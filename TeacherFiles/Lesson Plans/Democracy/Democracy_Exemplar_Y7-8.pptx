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338560" cy="43891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</a:defRPr>
            </a:pPr>
            <a:r>
              <a:t>HAVE YOUR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9496"/>
            <a:ext cx="1115568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YEAR 7/8 EXEMPLAR • FICTIONAL SCHOOL VOTING-INFORMATION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106424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School question: What should we add to the courtyard next term?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3154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288036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900" b="1">
                <a:solidFill>
                  <a:srgbClr val="2A7E7C"/>
                </a:solidFill>
              </a:defRPr>
            </a:pPr>
            <a:r>
              <a:t>OPTION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2880360" cy="4114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MORE OUTDOOR SEATING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95728"/>
            <a:ext cx="2816352" cy="6858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050" b="0">
                <a:solidFill>
                  <a:srgbClr val="202529"/>
                </a:solidFill>
              </a:defRPr>
            </a:pPr>
            <a:r>
              <a:t>Add extra tables and benches so more students can sit, eat and talk outside.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6152" y="3136392"/>
            <a:ext cx="1737360" cy="274320"/>
          </a:xfrm>
          <a:prstGeom prst="roundRect">
            <a:avLst/>
          </a:prstGeom>
          <a:solidFill>
            <a:srgbClr val="E1E9F0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3145536"/>
            <a:ext cx="1664208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900" b="1">
                <a:solidFill>
                  <a:srgbClr val="1F4E79"/>
                </a:solidFill>
              </a:defRPr>
            </a:pPr>
            <a:r>
              <a:t>SELECT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508760"/>
            <a:ext cx="3154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618488"/>
            <a:ext cx="288036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900" b="1">
                <a:solidFill>
                  <a:srgbClr val="2A7E7C"/>
                </a:solidFill>
              </a:defRPr>
            </a:pPr>
            <a:r>
              <a:t>OPTION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901952"/>
            <a:ext cx="2880360" cy="4114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LUNCHTIME GAMES AREA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2395728"/>
            <a:ext cx="2816352" cy="6858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050" b="0">
                <a:solidFill>
                  <a:srgbClr val="202529"/>
                </a:solidFill>
              </a:defRPr>
            </a:pPr>
            <a:r>
              <a:t>Mark out a space for chess tables, giant games and quiet lunchtime activities.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73752" y="3136392"/>
            <a:ext cx="1737360" cy="274320"/>
          </a:xfrm>
          <a:prstGeom prst="roundRect">
            <a:avLst/>
          </a:prstGeom>
          <a:solidFill>
            <a:srgbClr val="E1E9F0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0328" y="3145536"/>
            <a:ext cx="1664208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900" b="1">
                <a:solidFill>
                  <a:srgbClr val="1F4E79"/>
                </a:solidFill>
              </a:defRPr>
            </a:pPr>
            <a:r>
              <a:t>SELECT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508760"/>
            <a:ext cx="3154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1618488"/>
            <a:ext cx="288036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900" b="1">
                <a:solidFill>
                  <a:srgbClr val="2A7E7C"/>
                </a:solidFill>
              </a:defRPr>
            </a:pPr>
            <a:r>
              <a:t>OPTION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1901952"/>
            <a:ext cx="2880360" cy="4114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MORE BIKE PARKING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2712" y="2395728"/>
            <a:ext cx="2816352" cy="6858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050" b="0">
                <a:solidFill>
                  <a:srgbClr val="202529"/>
                </a:solidFill>
              </a:defRPr>
            </a:pPr>
            <a:r>
              <a:t>Add covered racks so more students can securely park bikes and scooters.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31352" y="3136392"/>
            <a:ext cx="1737360" cy="274320"/>
          </a:xfrm>
          <a:prstGeom prst="roundRect">
            <a:avLst/>
          </a:prstGeom>
          <a:solidFill>
            <a:srgbClr val="E1E9F0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7928" y="3145536"/>
            <a:ext cx="1664208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900" b="1">
                <a:solidFill>
                  <a:srgbClr val="1F4E79"/>
                </a:solidFill>
              </a:defRPr>
            </a:pPr>
            <a:r>
              <a:t>SELECT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794760"/>
            <a:ext cx="5349240" cy="13716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3867912"/>
            <a:ext cx="5129783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</a:defRPr>
            </a:pPr>
            <a:r>
              <a:t>HOW TO TAKE PART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142232"/>
            <a:ext cx="5129783" cy="9601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1. Read every option.</a:t>
            </a:r>
            <a:br/>
            <a:r>
              <a:t>2. Choose ONE option.</a:t>
            </a:r>
            <a:br/>
            <a:r>
              <a:t>3. Select CONFIRM.</a:t>
            </a:r>
            <a:br/>
            <a:br/>
            <a:r>
              <a:t>This is a mock-up only. It does not collect names or real votes.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94760"/>
            <a:ext cx="5349240" cy="13716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3867912"/>
            <a:ext cx="5129783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</a:defRPr>
            </a:pPr>
            <a:r>
              <a:t>HOW DO WE KEEP THIS FAIR?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142232"/>
            <a:ext cx="5129783" cy="9601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• Give every option equal space.</a:t>
            </a:r>
            <a:br/>
            <a:r>
              <a:t>• Use neutral wording.</a:t>
            </a:r>
            <a:br/>
            <a:r>
              <a:t>• Make instructions easy for everyone to understand.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98848" y="5440680"/>
            <a:ext cx="3200400" cy="475488"/>
          </a:xfrm>
          <a:prstGeom prst="roundRect">
            <a:avLst/>
          </a:prstGeom>
          <a:solidFill>
            <a:srgbClr val="2A7E7C"/>
          </a:solidFill>
          <a:ln w="12700">
            <a:solidFill>
              <a:srgbClr val="2A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5513832"/>
            <a:ext cx="3054096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CONFIRM MY FICTIONAL CHOICE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1124712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750" b="0">
                <a:solidFill>
                  <a:srgbClr val="5A6269"/>
                </a:solidFill>
              </a:defRPr>
            </a:pPr>
            <a:r>
              <a:t>Exemplar only • No real votes or personal information are collected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338560" cy="43891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</a:defRPr>
            </a:pPr>
            <a:r>
              <a:t>FOR RELIEVER USE – Why this exemplar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9496"/>
            <a:ext cx="1115568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Year 7/8 • Show after the task is explained, or keep as a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078992"/>
            <a:ext cx="1088136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152144"/>
            <a:ext cx="10661904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</a:defRPr>
            </a:pPr>
            <a:r>
              <a:t>Equal visual treatment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426464"/>
            <a:ext cx="10661904" cy="24688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All three choices use the same card size, text amount and button style, so the interface does not visually favour one option.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1088136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01952"/>
            <a:ext cx="10661904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</a:defRPr>
            </a:pPr>
            <a:r>
              <a:t>Neutral wording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176272"/>
            <a:ext cx="10661904" cy="24688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The descriptions explain what each option would provide without telling the user which choice is 'best'.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78608"/>
            <a:ext cx="1088136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651760"/>
            <a:ext cx="10661904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</a:defRPr>
            </a:pPr>
            <a:r>
              <a:t>Usability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926079"/>
            <a:ext cx="10661904" cy="24688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The sequence is obvious: read → select → confirm. Labels and buttons use simple, age-appropriate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328415"/>
            <a:ext cx="1088136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401568"/>
            <a:ext cx="10661904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</a:defRPr>
            </a:pPr>
            <a:r>
              <a:t>Accessibility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675887"/>
            <a:ext cx="10661904" cy="24688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Large type, strong contrast, text labels and a consistent layout make the screen easier to understand.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78224"/>
            <a:ext cx="1088136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151376"/>
            <a:ext cx="10661904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</a:defRPr>
            </a:pPr>
            <a:r>
              <a:t>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425696"/>
            <a:ext cx="10661904" cy="24688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The model explicitly states that names and real votes are not collected.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828032"/>
            <a:ext cx="1088136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901184"/>
            <a:ext cx="10661904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</a:defRPr>
            </a:pPr>
            <a:r>
              <a:t>Expected standard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175504"/>
            <a:ext cx="10661904" cy="24688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Year 7/8 students are demonstrating clear digital communication, fairness and basic interface conventions rather than building a functioning voting system.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64224"/>
            <a:ext cx="1088136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800" b="1">
                <a:solidFill>
                  <a:srgbClr val="9E1B0B"/>
                </a:solidFill>
              </a:defRPr>
            </a:pPr>
            <a:r>
              <a:t>This is a model of structure and quality. Students should create their own fictional issue and wording rather than copy this exemplar.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