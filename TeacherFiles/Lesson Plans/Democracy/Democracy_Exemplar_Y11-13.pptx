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
            <a:ext cx="11338560" cy="438912"/>
          </a:xfrm>
          <a:prstGeom prst="rect">
            <a:avLst/>
          </a:prstGeom>
          <a:noFill/>
        </p:spPr>
        <p:txBody>
          <a:bodyPr wrap="square" lIns="36576" rIns="36576" anchor="ctr">
            <a:spAutoFit/>
          </a:bodyPr>
          <a:lstStyle/>
          <a:p>
            <a:pPr algn="l">
              <a:defRPr sz="2300" b="1">
                <a:solidFill>
                  <a:srgbClr val="FFFFFF"/>
                </a:solidFill>
              </a:defRPr>
            </a:pPr>
            <a:r>
              <a:t>DEMOCRACY NZ ONLINE • DESIGN BRIEF</a:t>
            </a:r>
          </a:p>
        </p:txBody>
      </p:sp>
      <p:sp>
        <p:nvSpPr>
          <p:cNvPr id="4" name="TextBox 3"/>
          <p:cNvSpPr txBox="1"/>
          <p:nvPr/>
        </p:nvSpPr>
        <p:spPr>
          <a:xfrm>
            <a:off x="438912" y="539496"/>
            <a:ext cx="11155680" cy="201168"/>
          </a:xfrm>
          <a:prstGeom prst="rect">
            <a:avLst/>
          </a:prstGeom>
          <a:noFill/>
        </p:spPr>
        <p:txBody>
          <a:bodyPr wrap="square" lIns="36576" rIns="36576" anchor="ctr">
            <a:spAutoFit/>
          </a:bodyPr>
          <a:lstStyle/>
          <a:p>
            <a:pPr algn="l">
              <a:defRPr sz="800" b="0">
                <a:solidFill>
                  <a:srgbClr val="FFFFFF"/>
                </a:solidFill>
              </a:defRPr>
            </a:pPr>
            <a:r>
              <a:t>YEAR 11/12/13 EXEMPLAR • HYPOTHETICAL PUBLIC INFORMATION + PARTICIPATION SERVICE</a:t>
            </a:r>
          </a:p>
        </p:txBody>
      </p:sp>
      <p:sp>
        <p:nvSpPr>
          <p:cNvPr id="5" name="Rounded Rectangle 4"/>
          <p:cNvSpPr/>
          <p:nvPr/>
        </p:nvSpPr>
        <p:spPr>
          <a:xfrm>
            <a:off x="457200" y="960120"/>
            <a:ext cx="2743200" cy="1024128"/>
          </a:xfrm>
          <a:prstGeom prst="roundRect">
            <a:avLst/>
          </a:prstGeom>
          <a:solidFill>
            <a:srgbClr val="FFFFFF"/>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33272"/>
            <a:ext cx="2523744" cy="274320"/>
          </a:xfrm>
          <a:prstGeom prst="rect">
            <a:avLst/>
          </a:prstGeom>
          <a:noFill/>
        </p:spPr>
        <p:txBody>
          <a:bodyPr wrap="square" lIns="36576" rIns="36576" anchor="ctr">
            <a:spAutoFit/>
          </a:bodyPr>
          <a:lstStyle/>
          <a:p>
            <a:pPr algn="l">
              <a:defRPr sz="1250" b="1">
                <a:solidFill>
                  <a:srgbClr val="1F4E79"/>
                </a:solidFill>
              </a:defRPr>
            </a:pPr>
            <a:r>
              <a:t>PURPOSE</a:t>
            </a:r>
          </a:p>
        </p:txBody>
      </p:sp>
      <p:sp>
        <p:nvSpPr>
          <p:cNvPr id="7" name="TextBox 6"/>
          <p:cNvSpPr txBox="1"/>
          <p:nvPr/>
        </p:nvSpPr>
        <p:spPr>
          <a:xfrm>
            <a:off x="566928" y="1307592"/>
            <a:ext cx="2523744" cy="612648"/>
          </a:xfrm>
          <a:prstGeom prst="rect">
            <a:avLst/>
          </a:prstGeom>
          <a:noFill/>
        </p:spPr>
        <p:txBody>
          <a:bodyPr wrap="square" lIns="36576" rIns="36576" anchor="ctr">
            <a:spAutoFit/>
          </a:bodyPr>
          <a:lstStyle/>
          <a:p>
            <a:pPr algn="l">
              <a:defRPr sz="1050" b="0">
                <a:solidFill>
                  <a:srgbClr val="202529"/>
                </a:solidFill>
              </a:defRPr>
            </a:pPr>
            <a:r>
              <a:t>Provide clear, accessible information about democratic processes and explain legitimate ways people can participate. It is NOT an online voting service.</a:t>
            </a:r>
          </a:p>
        </p:txBody>
      </p:sp>
      <p:sp>
        <p:nvSpPr>
          <p:cNvPr id="8" name="Rounded Rectangle 7"/>
          <p:cNvSpPr/>
          <p:nvPr/>
        </p:nvSpPr>
        <p:spPr>
          <a:xfrm>
            <a:off x="3401568" y="960120"/>
            <a:ext cx="3794760" cy="1024128"/>
          </a:xfrm>
          <a:prstGeom prst="roundRect">
            <a:avLst/>
          </a:prstGeom>
          <a:solidFill>
            <a:srgbClr val="FFFFFF"/>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11296" y="1033272"/>
            <a:ext cx="3575304" cy="274320"/>
          </a:xfrm>
          <a:prstGeom prst="rect">
            <a:avLst/>
          </a:prstGeom>
          <a:noFill/>
        </p:spPr>
        <p:txBody>
          <a:bodyPr wrap="square" lIns="36576" rIns="36576" anchor="ctr">
            <a:spAutoFit/>
          </a:bodyPr>
          <a:lstStyle/>
          <a:p>
            <a:pPr algn="l">
              <a:defRPr sz="1250" b="1">
                <a:solidFill>
                  <a:srgbClr val="1F4E79"/>
                </a:solidFill>
              </a:defRPr>
            </a:pPr>
            <a:r>
              <a:t>USER GROUPS</a:t>
            </a:r>
          </a:p>
        </p:txBody>
      </p:sp>
      <p:sp>
        <p:nvSpPr>
          <p:cNvPr id="10" name="TextBox 9"/>
          <p:cNvSpPr txBox="1"/>
          <p:nvPr/>
        </p:nvSpPr>
        <p:spPr>
          <a:xfrm>
            <a:off x="3511296" y="1307592"/>
            <a:ext cx="3575304" cy="612648"/>
          </a:xfrm>
          <a:prstGeom prst="rect">
            <a:avLst/>
          </a:prstGeom>
          <a:noFill/>
        </p:spPr>
        <p:txBody>
          <a:bodyPr wrap="square" lIns="36576" rIns="36576" anchor="ctr">
            <a:spAutoFit/>
          </a:bodyPr>
          <a:lstStyle/>
          <a:p>
            <a:pPr algn="l">
              <a:defRPr sz="1050" b="0">
                <a:solidFill>
                  <a:srgbClr val="202529"/>
                </a:solidFill>
              </a:defRPr>
            </a:pPr>
            <a:r>
              <a:t>• First-time voters / senior students</a:t>
            </a:r>
            <a:br/>
            <a:r>
              <a:t>• Adults seeking plain-language information</a:t>
            </a:r>
            <a:br/>
            <a:r>
              <a:t>• Users needing accessible formats</a:t>
            </a:r>
            <a:br/>
            <a:r>
              <a:t>• People with limited connectivity or digital confidence</a:t>
            </a:r>
          </a:p>
        </p:txBody>
      </p:sp>
      <p:sp>
        <p:nvSpPr>
          <p:cNvPr id="11" name="Rounded Rectangle 10"/>
          <p:cNvSpPr/>
          <p:nvPr/>
        </p:nvSpPr>
        <p:spPr>
          <a:xfrm>
            <a:off x="7388352" y="960120"/>
            <a:ext cx="4343400" cy="1024128"/>
          </a:xfrm>
          <a:prstGeom prst="roundRect">
            <a:avLst/>
          </a:prstGeom>
          <a:solidFill>
            <a:srgbClr val="FFFFFF"/>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1033272"/>
            <a:ext cx="4123944" cy="274320"/>
          </a:xfrm>
          <a:prstGeom prst="rect">
            <a:avLst/>
          </a:prstGeom>
          <a:noFill/>
        </p:spPr>
        <p:txBody>
          <a:bodyPr wrap="square" lIns="36576" rIns="36576" anchor="ctr">
            <a:spAutoFit/>
          </a:bodyPr>
          <a:lstStyle/>
          <a:p>
            <a:pPr algn="l">
              <a:defRPr sz="1250" b="1">
                <a:solidFill>
                  <a:srgbClr val="1F4E79"/>
                </a:solidFill>
              </a:defRPr>
            </a:pPr>
            <a:r>
              <a:t>DESIGN PRINCIPLE</a:t>
            </a:r>
          </a:p>
        </p:txBody>
      </p:sp>
      <p:sp>
        <p:nvSpPr>
          <p:cNvPr id="13" name="TextBox 12"/>
          <p:cNvSpPr txBox="1"/>
          <p:nvPr/>
        </p:nvSpPr>
        <p:spPr>
          <a:xfrm>
            <a:off x="7498079" y="1307592"/>
            <a:ext cx="4123944" cy="612648"/>
          </a:xfrm>
          <a:prstGeom prst="rect">
            <a:avLst/>
          </a:prstGeom>
          <a:noFill/>
        </p:spPr>
        <p:txBody>
          <a:bodyPr wrap="square" lIns="36576" rIns="36576" anchor="ctr">
            <a:spAutoFit/>
          </a:bodyPr>
          <a:lstStyle/>
          <a:p>
            <a:pPr algn="l">
              <a:defRPr sz="1050" b="0">
                <a:solidFill>
                  <a:srgbClr val="202529"/>
                </a:solidFill>
              </a:defRPr>
            </a:pPr>
            <a:r>
              <a:t>The service should help users understand processes and options without inferring, ranking or steering their political preferences.</a:t>
            </a:r>
          </a:p>
        </p:txBody>
      </p:sp>
      <p:sp>
        <p:nvSpPr>
          <p:cNvPr id="14" name="Rounded Rectangle 13"/>
          <p:cNvSpPr/>
          <p:nvPr/>
        </p:nvSpPr>
        <p:spPr>
          <a:xfrm>
            <a:off x="457200" y="2240280"/>
            <a:ext cx="5184648" cy="1325880"/>
          </a:xfrm>
          <a:prstGeom prst="roundRect">
            <a:avLst/>
          </a:prstGeom>
          <a:solidFill>
            <a:srgbClr val="F4F7FA"/>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313432"/>
            <a:ext cx="4965192" cy="274320"/>
          </a:xfrm>
          <a:prstGeom prst="rect">
            <a:avLst/>
          </a:prstGeom>
          <a:noFill/>
        </p:spPr>
        <p:txBody>
          <a:bodyPr wrap="square" lIns="36576" rIns="36576" anchor="ctr">
            <a:spAutoFit/>
          </a:bodyPr>
          <a:lstStyle/>
          <a:p>
            <a:pPr algn="l">
              <a:defRPr sz="1250" b="1">
                <a:solidFill>
                  <a:srgbClr val="1F4E79"/>
                </a:solidFill>
              </a:defRPr>
            </a:pPr>
            <a:r>
              <a:t>ACCESSIBILITY</a:t>
            </a:r>
          </a:p>
        </p:txBody>
      </p:sp>
      <p:sp>
        <p:nvSpPr>
          <p:cNvPr id="16" name="TextBox 15"/>
          <p:cNvSpPr txBox="1"/>
          <p:nvPr/>
        </p:nvSpPr>
        <p:spPr>
          <a:xfrm>
            <a:off x="566928" y="2587752"/>
            <a:ext cx="4965192" cy="914400"/>
          </a:xfrm>
          <a:prstGeom prst="rect">
            <a:avLst/>
          </a:prstGeom>
          <a:noFill/>
        </p:spPr>
        <p:txBody>
          <a:bodyPr wrap="square" lIns="36576" rIns="36576" anchor="ctr">
            <a:spAutoFit/>
          </a:bodyPr>
          <a:lstStyle/>
          <a:p>
            <a:pPr algn="l">
              <a:defRPr sz="1050" b="0">
                <a:solidFill>
                  <a:srgbClr val="202529"/>
                </a:solidFill>
              </a:defRPr>
            </a:pPr>
            <a:r>
              <a:t>Risk: information excludes some users.</a:t>
            </a:r>
            <a:br/>
            <a:r>
              <a:t>Requirement: keyboard-friendly, plain language, scalable text, alternate formats.</a:t>
            </a:r>
            <a:br/>
            <a:r>
              <a:t>Evidence: accessibility testing with defined user tasks.</a:t>
            </a:r>
          </a:p>
        </p:txBody>
      </p:sp>
      <p:sp>
        <p:nvSpPr>
          <p:cNvPr id="17" name="Rounded Rectangle 16"/>
          <p:cNvSpPr/>
          <p:nvPr/>
        </p:nvSpPr>
        <p:spPr>
          <a:xfrm>
            <a:off x="6099048" y="2240280"/>
            <a:ext cx="5184648" cy="1325880"/>
          </a:xfrm>
          <a:prstGeom prst="roundRect">
            <a:avLst/>
          </a:prstGeom>
          <a:solidFill>
            <a:srgbClr val="F4F7FA"/>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08776" y="2313432"/>
            <a:ext cx="4965192" cy="274320"/>
          </a:xfrm>
          <a:prstGeom prst="rect">
            <a:avLst/>
          </a:prstGeom>
          <a:noFill/>
        </p:spPr>
        <p:txBody>
          <a:bodyPr wrap="square" lIns="36576" rIns="36576" anchor="ctr">
            <a:spAutoFit/>
          </a:bodyPr>
          <a:lstStyle/>
          <a:p>
            <a:pPr algn="l">
              <a:defRPr sz="1250" b="1">
                <a:solidFill>
                  <a:srgbClr val="1F4E79"/>
                </a:solidFill>
              </a:defRPr>
            </a:pPr>
            <a:r>
              <a:t>PRIVACY</a:t>
            </a:r>
          </a:p>
        </p:txBody>
      </p:sp>
      <p:sp>
        <p:nvSpPr>
          <p:cNvPr id="19" name="TextBox 18"/>
          <p:cNvSpPr txBox="1"/>
          <p:nvPr/>
        </p:nvSpPr>
        <p:spPr>
          <a:xfrm>
            <a:off x="6208776" y="2587752"/>
            <a:ext cx="4965192" cy="914400"/>
          </a:xfrm>
          <a:prstGeom prst="rect">
            <a:avLst/>
          </a:prstGeom>
          <a:noFill/>
        </p:spPr>
        <p:txBody>
          <a:bodyPr wrap="square" lIns="36576" rIns="36576" anchor="ctr">
            <a:spAutoFit/>
          </a:bodyPr>
          <a:lstStyle/>
          <a:p>
            <a:pPr algn="l">
              <a:defRPr sz="1050" b="0">
                <a:solidFill>
                  <a:srgbClr val="202529"/>
                </a:solidFill>
              </a:defRPr>
            </a:pPr>
            <a:r>
              <a:t>Risk: unnecessary personal data creates harm or distrust.</a:t>
            </a:r>
            <a:br/>
            <a:r>
              <a:t>Requirement: minimise collection; explain why any data is needed.</a:t>
            </a:r>
            <a:br/>
            <a:r>
              <a:t>Evidence: data inventory shows no preference profiling.</a:t>
            </a:r>
          </a:p>
        </p:txBody>
      </p:sp>
      <p:sp>
        <p:nvSpPr>
          <p:cNvPr id="20" name="Rounded Rectangle 19"/>
          <p:cNvSpPr/>
          <p:nvPr/>
        </p:nvSpPr>
        <p:spPr>
          <a:xfrm>
            <a:off x="457200" y="3822191"/>
            <a:ext cx="5184648" cy="1325880"/>
          </a:xfrm>
          <a:prstGeom prst="roundRect">
            <a:avLst/>
          </a:prstGeom>
          <a:solidFill>
            <a:srgbClr val="F4F7FA"/>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895344"/>
            <a:ext cx="4965192" cy="274320"/>
          </a:xfrm>
          <a:prstGeom prst="rect">
            <a:avLst/>
          </a:prstGeom>
          <a:noFill/>
        </p:spPr>
        <p:txBody>
          <a:bodyPr wrap="square" lIns="36576" rIns="36576" anchor="ctr">
            <a:spAutoFit/>
          </a:bodyPr>
          <a:lstStyle/>
          <a:p>
            <a:pPr algn="l">
              <a:defRPr sz="1250" b="1">
                <a:solidFill>
                  <a:srgbClr val="1F4E79"/>
                </a:solidFill>
              </a:defRPr>
            </a:pPr>
            <a:r>
              <a:t>TRANSPARENCY</a:t>
            </a:r>
          </a:p>
        </p:txBody>
      </p:sp>
      <p:sp>
        <p:nvSpPr>
          <p:cNvPr id="22" name="TextBox 21"/>
          <p:cNvSpPr txBox="1"/>
          <p:nvPr/>
        </p:nvSpPr>
        <p:spPr>
          <a:xfrm>
            <a:off x="566928" y="4169663"/>
            <a:ext cx="4965192" cy="914400"/>
          </a:xfrm>
          <a:prstGeom prst="rect">
            <a:avLst/>
          </a:prstGeom>
          <a:noFill/>
        </p:spPr>
        <p:txBody>
          <a:bodyPr wrap="square" lIns="36576" rIns="36576" anchor="ctr">
            <a:spAutoFit/>
          </a:bodyPr>
          <a:lstStyle/>
          <a:p>
            <a:pPr algn="l">
              <a:defRPr sz="1050" b="0">
                <a:solidFill>
                  <a:srgbClr val="202529"/>
                </a:solidFill>
              </a:defRPr>
            </a:pPr>
            <a:r>
              <a:t>Risk: users cannot tell who supplied information or why it appears.</a:t>
            </a:r>
            <a:br/>
            <a:r>
              <a:t>Requirement: identify publisher, source and update date.</a:t>
            </a:r>
            <a:br/>
            <a:r>
              <a:t>Evidence: source labels visible on every information page.</a:t>
            </a:r>
          </a:p>
        </p:txBody>
      </p:sp>
      <p:sp>
        <p:nvSpPr>
          <p:cNvPr id="23" name="Rounded Rectangle 22"/>
          <p:cNvSpPr/>
          <p:nvPr/>
        </p:nvSpPr>
        <p:spPr>
          <a:xfrm>
            <a:off x="6099048" y="3822191"/>
            <a:ext cx="5184648" cy="1325880"/>
          </a:xfrm>
          <a:prstGeom prst="roundRect">
            <a:avLst/>
          </a:prstGeom>
          <a:solidFill>
            <a:srgbClr val="F4F7FA"/>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08776" y="3895344"/>
            <a:ext cx="4965192" cy="274320"/>
          </a:xfrm>
          <a:prstGeom prst="rect">
            <a:avLst/>
          </a:prstGeom>
          <a:noFill/>
        </p:spPr>
        <p:txBody>
          <a:bodyPr wrap="square" lIns="36576" rIns="36576" anchor="ctr">
            <a:spAutoFit/>
          </a:bodyPr>
          <a:lstStyle/>
          <a:p>
            <a:pPr algn="l">
              <a:defRPr sz="1250" b="1">
                <a:solidFill>
                  <a:srgbClr val="1F4E79"/>
                </a:solidFill>
              </a:defRPr>
            </a:pPr>
            <a:r>
              <a:t>MISINFORMATION / MANIPULATION</a:t>
            </a:r>
          </a:p>
        </p:txBody>
      </p:sp>
      <p:sp>
        <p:nvSpPr>
          <p:cNvPr id="25" name="TextBox 24"/>
          <p:cNvSpPr txBox="1"/>
          <p:nvPr/>
        </p:nvSpPr>
        <p:spPr>
          <a:xfrm>
            <a:off x="6208776" y="4169663"/>
            <a:ext cx="4965192" cy="914400"/>
          </a:xfrm>
          <a:prstGeom prst="rect">
            <a:avLst/>
          </a:prstGeom>
          <a:noFill/>
        </p:spPr>
        <p:txBody>
          <a:bodyPr wrap="square" lIns="36576" rIns="36576" anchor="ctr">
            <a:spAutoFit/>
          </a:bodyPr>
          <a:lstStyle/>
          <a:p>
            <a:pPr algn="l">
              <a:defRPr sz="1050" b="0">
                <a:solidFill>
                  <a:srgbClr val="202529"/>
                </a:solidFill>
              </a:defRPr>
            </a:pPr>
            <a:r>
              <a:t>Risk: misleading content or interface emphasis distorts understanding.</a:t>
            </a:r>
            <a:br/>
            <a:r>
              <a:t>Requirement: neutral layout + authoritative sourcing + correction process.</a:t>
            </a:r>
            <a:br/>
            <a:r>
              <a:t>Evidence: content audit and cross-source verification.</a:t>
            </a:r>
          </a:p>
        </p:txBody>
      </p:sp>
      <p:sp>
        <p:nvSpPr>
          <p:cNvPr id="26" name="Rounded Rectangle 25"/>
          <p:cNvSpPr/>
          <p:nvPr/>
        </p:nvSpPr>
        <p:spPr>
          <a:xfrm>
            <a:off x="457200" y="5413248"/>
            <a:ext cx="10972800" cy="658368"/>
          </a:xfrm>
          <a:prstGeom prst="roundRect">
            <a:avLst/>
          </a:prstGeom>
          <a:solidFill>
            <a:srgbClr val="FFFFFF"/>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5504688"/>
            <a:ext cx="10698480" cy="219456"/>
          </a:xfrm>
          <a:prstGeom prst="rect">
            <a:avLst/>
          </a:prstGeom>
          <a:noFill/>
        </p:spPr>
        <p:txBody>
          <a:bodyPr wrap="square" lIns="36576" rIns="36576" anchor="ctr">
            <a:spAutoFit/>
          </a:bodyPr>
          <a:lstStyle/>
          <a:p>
            <a:pPr algn="ctr">
              <a:defRPr sz="1400" b="1">
                <a:solidFill>
                  <a:srgbClr val="1F4E79"/>
                </a:solidFill>
              </a:defRPr>
            </a:pPr>
            <a:r>
              <a:t>USER  →  AUTHORITATIVE INFORMATION  →  ACCESSIBLE SERVICE  →  ACTION / FEEDBACK</a:t>
            </a:r>
          </a:p>
        </p:txBody>
      </p:sp>
      <p:sp>
        <p:nvSpPr>
          <p:cNvPr id="28" name="TextBox 27"/>
          <p:cNvSpPr txBox="1"/>
          <p:nvPr/>
        </p:nvSpPr>
        <p:spPr>
          <a:xfrm>
            <a:off x="594360" y="5769864"/>
            <a:ext cx="10698480" cy="164592"/>
          </a:xfrm>
          <a:prstGeom prst="rect">
            <a:avLst/>
          </a:prstGeom>
          <a:noFill/>
        </p:spPr>
        <p:txBody>
          <a:bodyPr wrap="square" lIns="36576" rIns="36576" anchor="ctr">
            <a:spAutoFit/>
          </a:bodyPr>
          <a:lstStyle/>
          <a:p>
            <a:pPr algn="ctr">
              <a:defRPr sz="850" b="0">
                <a:solidFill>
                  <a:srgbClr val="5A6269"/>
                </a:solidFill>
              </a:defRPr>
            </a:pPr>
            <a:r>
              <a:t>Personal data: none required for general information; collect only what is necessary for an explicitly chosen feedback action.</a:t>
            </a:r>
          </a:p>
        </p:txBody>
      </p:sp>
      <p:sp>
        <p:nvSpPr>
          <p:cNvPr id="29" name="TextBox 28"/>
          <p:cNvSpPr txBox="1"/>
          <p:nvPr/>
        </p:nvSpPr>
        <p:spPr>
          <a:xfrm>
            <a:off x="457200" y="6537960"/>
            <a:ext cx="11247120" cy="164592"/>
          </a:xfrm>
          <a:prstGeom prst="rect">
            <a:avLst/>
          </a:prstGeom>
          <a:noFill/>
        </p:spPr>
        <p:txBody>
          <a:bodyPr wrap="square" lIns="36576" rIns="36576" anchor="ctr">
            <a:spAutoFit/>
          </a:bodyPr>
          <a:lstStyle/>
          <a:p>
            <a:pPr algn="ctr">
              <a:defRPr sz="750" b="0">
                <a:solidFill>
                  <a:srgbClr val="5A6269"/>
                </a:solidFill>
              </a:defRPr>
            </a:pPr>
            <a:r>
              <a:t>Example evidence base: Elections NZ describes NZ as a representative democracy and provides accessible/alternate-format information; UN Democracy Day emphasises participation and inclusion.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
            <a:ext cx="11338560" cy="438912"/>
          </a:xfrm>
          <a:prstGeom prst="rect">
            <a:avLst/>
          </a:prstGeom>
          <a:noFill/>
        </p:spPr>
        <p:txBody>
          <a:bodyPr wrap="square" lIns="36576" rIns="36576" anchor="ctr">
            <a:spAutoFit/>
          </a:bodyPr>
          <a:lstStyle/>
          <a:p>
            <a:pPr algn="l">
              <a:defRPr sz="2300" b="1">
                <a:solidFill>
                  <a:srgbClr val="FFFFFF"/>
                </a:solidFill>
              </a:defRPr>
            </a:pPr>
            <a:r>
              <a:t>EXEMPLAR EVALUATION</a:t>
            </a:r>
          </a:p>
        </p:txBody>
      </p:sp>
      <p:sp>
        <p:nvSpPr>
          <p:cNvPr id="4" name="TextBox 3"/>
          <p:cNvSpPr txBox="1"/>
          <p:nvPr/>
        </p:nvSpPr>
        <p:spPr>
          <a:xfrm>
            <a:off x="438912" y="539496"/>
            <a:ext cx="11155680" cy="201168"/>
          </a:xfrm>
          <a:prstGeom prst="rect">
            <a:avLst/>
          </a:prstGeom>
          <a:noFill/>
        </p:spPr>
        <p:txBody>
          <a:bodyPr wrap="square" lIns="36576" rIns="36576" anchor="ctr">
            <a:spAutoFit/>
          </a:bodyPr>
          <a:lstStyle/>
          <a:p>
            <a:pPr algn="l">
              <a:defRPr sz="800" b="0">
                <a:solidFill>
                  <a:srgbClr val="FFFFFF"/>
                </a:solidFill>
              </a:defRPr>
            </a:pPr>
            <a:r>
              <a:t>Senior evidence brief • Model of a justified design judgement</a:t>
            </a:r>
          </a:p>
        </p:txBody>
      </p:sp>
      <p:sp>
        <p:nvSpPr>
          <p:cNvPr id="5" name="Rounded Rectangle 4"/>
          <p:cNvSpPr/>
          <p:nvPr/>
        </p:nvSpPr>
        <p:spPr>
          <a:xfrm>
            <a:off x="640080" y="1143000"/>
            <a:ext cx="10881360" cy="2011680"/>
          </a:xfrm>
          <a:prstGeom prst="roundRect">
            <a:avLst/>
          </a:prstGeom>
          <a:solidFill>
            <a:srgbClr val="FFFFFF"/>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216152"/>
            <a:ext cx="10661904" cy="274320"/>
          </a:xfrm>
          <a:prstGeom prst="rect">
            <a:avLst/>
          </a:prstGeom>
          <a:noFill/>
        </p:spPr>
        <p:txBody>
          <a:bodyPr wrap="square" lIns="36576" rIns="36576" anchor="ctr">
            <a:spAutoFit/>
          </a:bodyPr>
          <a:lstStyle/>
          <a:p>
            <a:pPr algn="l">
              <a:defRPr sz="1250" b="1">
                <a:solidFill>
                  <a:srgbClr val="1F4E79"/>
                </a:solidFill>
              </a:defRPr>
            </a:pPr>
            <a:r>
              <a:t>DESIGN TENSION: PERSONALISATION vs NEUTRALITY + PRIVACY</a:t>
            </a:r>
          </a:p>
        </p:txBody>
      </p:sp>
      <p:sp>
        <p:nvSpPr>
          <p:cNvPr id="7" name="TextBox 6"/>
          <p:cNvSpPr txBox="1"/>
          <p:nvPr/>
        </p:nvSpPr>
        <p:spPr>
          <a:xfrm>
            <a:off x="749808" y="1490472"/>
            <a:ext cx="10661904" cy="1600200"/>
          </a:xfrm>
          <a:prstGeom prst="rect">
            <a:avLst/>
          </a:prstGeom>
          <a:noFill/>
        </p:spPr>
        <p:txBody>
          <a:bodyPr wrap="square" lIns="36576" rIns="36576" anchor="ctr">
            <a:spAutoFit/>
          </a:bodyPr>
          <a:lstStyle/>
          <a:p>
            <a:pPr algn="l">
              <a:defRPr sz="1050" b="0">
                <a:solidFill>
                  <a:srgbClr val="202529"/>
                </a:solidFill>
              </a:defRPr>
            </a:pPr>
            <a:r>
              <a:t>Personalisation can make a civic service easier to navigate, for example by showing information relevant to a user’s location or accessibility needs. However, collecting detailed behavioural or preference data could reduce privacy and create opportunities for political profiling or unequal presentation of information. A trustworthy service should therefore personalise only where there is a clear user benefit, minimise the data required, explain the purpose of collection, and avoid adapting content according to inferred political views. This limits some convenience, but protects user agency and makes the service easier to audit for neutrality.</a:t>
            </a:r>
          </a:p>
        </p:txBody>
      </p:sp>
      <p:sp>
        <p:nvSpPr>
          <p:cNvPr id="8" name="Rounded Rectangle 7"/>
          <p:cNvSpPr/>
          <p:nvPr/>
        </p:nvSpPr>
        <p:spPr>
          <a:xfrm>
            <a:off x="640080" y="3474720"/>
            <a:ext cx="5212080" cy="1234440"/>
          </a:xfrm>
          <a:prstGeom prst="roundRect">
            <a:avLst/>
          </a:prstGeom>
          <a:solidFill>
            <a:srgbClr val="F4F7FA"/>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47872"/>
            <a:ext cx="4992624" cy="274320"/>
          </a:xfrm>
          <a:prstGeom prst="rect">
            <a:avLst/>
          </a:prstGeom>
          <a:noFill/>
        </p:spPr>
        <p:txBody>
          <a:bodyPr wrap="square" lIns="36576" rIns="36576" anchor="ctr">
            <a:spAutoFit/>
          </a:bodyPr>
          <a:lstStyle/>
          <a:p>
            <a:pPr algn="l">
              <a:defRPr sz="1250" b="1">
                <a:solidFill>
                  <a:srgbClr val="1F4E79"/>
                </a:solidFill>
              </a:defRPr>
            </a:pPr>
            <a:r>
              <a:t>WHAT MAKES THIS EVIDENCE-BASED?</a:t>
            </a:r>
          </a:p>
        </p:txBody>
      </p:sp>
      <p:sp>
        <p:nvSpPr>
          <p:cNvPr id="10" name="TextBox 9"/>
          <p:cNvSpPr txBox="1"/>
          <p:nvPr/>
        </p:nvSpPr>
        <p:spPr>
          <a:xfrm>
            <a:off x="749808" y="3822191"/>
            <a:ext cx="4992624" cy="822960"/>
          </a:xfrm>
          <a:prstGeom prst="rect">
            <a:avLst/>
          </a:prstGeom>
          <a:noFill/>
        </p:spPr>
        <p:txBody>
          <a:bodyPr wrap="square" lIns="36576" rIns="36576" anchor="ctr">
            <a:spAutoFit/>
          </a:bodyPr>
          <a:lstStyle/>
          <a:p>
            <a:pPr algn="l">
              <a:defRPr sz="1050" b="0">
                <a:solidFill>
                  <a:srgbClr val="202529"/>
                </a:solidFill>
              </a:defRPr>
            </a:pPr>
            <a:r>
              <a:t>The judgement distinguishes a design benefit from risks, identifies a trade-off, proposes design requirements, and avoids claiming that one political viewpoint or electoral choice is preferable.</a:t>
            </a:r>
          </a:p>
        </p:txBody>
      </p:sp>
      <p:sp>
        <p:nvSpPr>
          <p:cNvPr id="11" name="Rounded Rectangle 10"/>
          <p:cNvSpPr/>
          <p:nvPr/>
        </p:nvSpPr>
        <p:spPr>
          <a:xfrm>
            <a:off x="6126480" y="3474720"/>
            <a:ext cx="5394960" cy="1234440"/>
          </a:xfrm>
          <a:prstGeom prst="roundRect">
            <a:avLst/>
          </a:prstGeom>
          <a:solidFill>
            <a:srgbClr val="F4F7FA"/>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36208" y="3547872"/>
            <a:ext cx="5175504" cy="274320"/>
          </a:xfrm>
          <a:prstGeom prst="rect">
            <a:avLst/>
          </a:prstGeom>
          <a:noFill/>
        </p:spPr>
        <p:txBody>
          <a:bodyPr wrap="square" lIns="36576" rIns="36576" anchor="ctr">
            <a:spAutoFit/>
          </a:bodyPr>
          <a:lstStyle/>
          <a:p>
            <a:pPr algn="l">
              <a:defRPr sz="1250" b="1">
                <a:solidFill>
                  <a:srgbClr val="1F4E79"/>
                </a:solidFill>
              </a:defRPr>
            </a:pPr>
            <a:r>
              <a:t>MEASURABLE TEST</a:t>
            </a:r>
          </a:p>
        </p:txBody>
      </p:sp>
      <p:sp>
        <p:nvSpPr>
          <p:cNvPr id="13" name="TextBox 12"/>
          <p:cNvSpPr txBox="1"/>
          <p:nvPr/>
        </p:nvSpPr>
        <p:spPr>
          <a:xfrm>
            <a:off x="6236208" y="3822191"/>
            <a:ext cx="5175504" cy="822960"/>
          </a:xfrm>
          <a:prstGeom prst="rect">
            <a:avLst/>
          </a:prstGeom>
          <a:noFill/>
        </p:spPr>
        <p:txBody>
          <a:bodyPr wrap="square" lIns="36576" rIns="36576" anchor="ctr">
            <a:spAutoFit/>
          </a:bodyPr>
          <a:lstStyle/>
          <a:p>
            <a:pPr algn="l">
              <a:defRPr sz="1050" b="0">
                <a:solidFill>
                  <a:srgbClr val="202529"/>
                </a:solidFill>
              </a:defRPr>
            </a:pPr>
            <a:r>
              <a:t>Neutrality test: give equivalent civic-information tasks to users with different profiles. Success = the same factual options, source prominence and navigation pathways are presented unless the user explicitly selects an accessibility/localisation preference.</a:t>
            </a:r>
          </a:p>
        </p:txBody>
      </p:sp>
      <p:sp>
        <p:nvSpPr>
          <p:cNvPr id="14" name="Rounded Rectangle 13"/>
          <p:cNvSpPr/>
          <p:nvPr/>
        </p:nvSpPr>
        <p:spPr>
          <a:xfrm>
            <a:off x="640080" y="5010912"/>
            <a:ext cx="10881360" cy="777240"/>
          </a:xfrm>
          <a:prstGeom prst="roundRect">
            <a:avLst/>
          </a:prstGeom>
          <a:solidFill>
            <a:srgbClr val="F4F7FA"/>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5084064"/>
            <a:ext cx="10661904" cy="274320"/>
          </a:xfrm>
          <a:prstGeom prst="rect">
            <a:avLst/>
          </a:prstGeom>
          <a:noFill/>
        </p:spPr>
        <p:txBody>
          <a:bodyPr wrap="square" lIns="36576" rIns="36576" anchor="ctr">
            <a:spAutoFit/>
          </a:bodyPr>
          <a:lstStyle/>
          <a:p>
            <a:pPr algn="l">
              <a:defRPr sz="1250" b="1">
                <a:solidFill>
                  <a:srgbClr val="1F4E79"/>
                </a:solidFill>
              </a:defRPr>
            </a:pPr>
            <a:r>
              <a:t>SOURCE USE</a:t>
            </a:r>
          </a:p>
        </p:txBody>
      </p:sp>
      <p:sp>
        <p:nvSpPr>
          <p:cNvPr id="16" name="TextBox 15"/>
          <p:cNvSpPr txBox="1"/>
          <p:nvPr/>
        </p:nvSpPr>
        <p:spPr>
          <a:xfrm>
            <a:off x="749808" y="5358384"/>
            <a:ext cx="10661904" cy="365759"/>
          </a:xfrm>
          <a:prstGeom prst="rect">
            <a:avLst/>
          </a:prstGeom>
          <a:noFill/>
        </p:spPr>
        <p:txBody>
          <a:bodyPr wrap="square" lIns="36576" rIns="36576" anchor="ctr">
            <a:spAutoFit/>
          </a:bodyPr>
          <a:lstStyle/>
          <a:p>
            <a:pPr algn="l">
              <a:defRPr sz="1050" b="0">
                <a:solidFill>
                  <a:srgbClr val="202529"/>
                </a:solidFill>
              </a:defRPr>
            </a:pPr>
            <a:r>
              <a:t>Use authoritative NZ and UN sources for factual claims about democratic processes. Label recommendations as design judgements rather than presenting them as sourced facts.</a:t>
            </a:r>
          </a:p>
        </p:txBody>
      </p:sp>
      <p:sp>
        <p:nvSpPr>
          <p:cNvPr id="17" name="TextBox 16"/>
          <p:cNvSpPr txBox="1"/>
          <p:nvPr/>
        </p:nvSpPr>
        <p:spPr>
          <a:xfrm>
            <a:off x="457200" y="6537960"/>
            <a:ext cx="11247120" cy="164592"/>
          </a:xfrm>
          <a:prstGeom prst="rect">
            <a:avLst/>
          </a:prstGeom>
          <a:noFill/>
        </p:spPr>
        <p:txBody>
          <a:bodyPr wrap="square" lIns="36576" rIns="36576" anchor="ctr">
            <a:spAutoFit/>
          </a:bodyPr>
          <a:lstStyle/>
          <a:p>
            <a:pPr algn="ctr">
              <a:defRPr sz="750" b="0">
                <a:solidFill>
                  <a:srgbClr val="5A6269"/>
                </a:solidFill>
              </a:defRPr>
            </a:pPr>
            <a:r>
              <a:t>Exemplar only • Students should use their own evidence and design reasoning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
            <a:ext cx="11338560" cy="438912"/>
          </a:xfrm>
          <a:prstGeom prst="rect">
            <a:avLst/>
          </a:prstGeom>
          <a:noFill/>
        </p:spPr>
        <p:txBody>
          <a:bodyPr wrap="square" lIns="36576" rIns="36576" anchor="ctr">
            <a:spAutoFit/>
          </a:bodyPr>
          <a:lstStyle/>
          <a:p>
            <a:pPr algn="l">
              <a:defRPr sz="2300" b="1">
                <a:solidFill>
                  <a:srgbClr val="FFFFFF"/>
                </a:solidFill>
              </a:defRPr>
            </a:pPr>
            <a:r>
              <a:t>FOR RELIEVER USE – Why this exemplar works</a:t>
            </a:r>
          </a:p>
        </p:txBody>
      </p:sp>
      <p:sp>
        <p:nvSpPr>
          <p:cNvPr id="4" name="TextBox 3"/>
          <p:cNvSpPr txBox="1"/>
          <p:nvPr/>
        </p:nvSpPr>
        <p:spPr>
          <a:xfrm>
            <a:off x="438912" y="539496"/>
            <a:ext cx="11155680" cy="201168"/>
          </a:xfrm>
          <a:prstGeom prst="rect">
            <a:avLst/>
          </a:prstGeom>
          <a:noFill/>
        </p:spPr>
        <p:txBody>
          <a:bodyPr wrap="square" lIns="36576" rIns="36576" anchor="ctr">
            <a:spAutoFit/>
          </a:bodyPr>
          <a:lstStyle/>
          <a:p>
            <a:pPr algn="l">
              <a:defRPr sz="800" b="0">
                <a:solidFill>
                  <a:srgbClr val="FFFFFF"/>
                </a:solidFill>
              </a:defRPr>
            </a:pPr>
            <a:r>
              <a:t>Year 11/12/13 • Show after the task is explained, or keep as a reference</a:t>
            </a:r>
          </a:p>
        </p:txBody>
      </p:sp>
      <p:sp>
        <p:nvSpPr>
          <p:cNvPr id="5" name="Rounded Rectangle 4"/>
          <p:cNvSpPr/>
          <p:nvPr/>
        </p:nvSpPr>
        <p:spPr>
          <a:xfrm>
            <a:off x="658368" y="1078992"/>
            <a:ext cx="10881360" cy="658368"/>
          </a:xfrm>
          <a:prstGeom prst="roundRect">
            <a:avLst/>
          </a:prstGeom>
          <a:solidFill>
            <a:srgbClr val="F4F7FA"/>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1152144"/>
            <a:ext cx="10661904" cy="274320"/>
          </a:xfrm>
          <a:prstGeom prst="rect">
            <a:avLst/>
          </a:prstGeom>
          <a:noFill/>
        </p:spPr>
        <p:txBody>
          <a:bodyPr wrap="square" lIns="36576" rIns="36576" anchor="ctr">
            <a:spAutoFit/>
          </a:bodyPr>
          <a:lstStyle/>
          <a:p>
            <a:pPr algn="l">
              <a:defRPr sz="1250" b="1">
                <a:solidFill>
                  <a:srgbClr val="1F4E79"/>
                </a:solidFill>
              </a:defRPr>
            </a:pPr>
            <a:r>
              <a:t>Socio-technical thinking</a:t>
            </a:r>
          </a:p>
        </p:txBody>
      </p:sp>
      <p:sp>
        <p:nvSpPr>
          <p:cNvPr id="7" name="TextBox 6"/>
          <p:cNvSpPr txBox="1"/>
          <p:nvPr/>
        </p:nvSpPr>
        <p:spPr>
          <a:xfrm>
            <a:off x="768096" y="1426464"/>
            <a:ext cx="10661904" cy="246887"/>
          </a:xfrm>
          <a:prstGeom prst="rect">
            <a:avLst/>
          </a:prstGeom>
          <a:noFill/>
        </p:spPr>
        <p:txBody>
          <a:bodyPr wrap="square" lIns="36576" rIns="36576" anchor="ctr">
            <a:spAutoFit/>
          </a:bodyPr>
          <a:lstStyle/>
          <a:p>
            <a:pPr algn="l">
              <a:defRPr sz="1050" b="0">
                <a:solidFill>
                  <a:srgbClr val="202529"/>
                </a:solidFill>
              </a:defRPr>
            </a:pPr>
            <a:r>
              <a:t>The exemplar considers users, interface, information, data and institutional trust rather than treating the website as only a visual product.</a:t>
            </a:r>
          </a:p>
        </p:txBody>
      </p:sp>
      <p:sp>
        <p:nvSpPr>
          <p:cNvPr id="8" name="Rounded Rectangle 7"/>
          <p:cNvSpPr/>
          <p:nvPr/>
        </p:nvSpPr>
        <p:spPr>
          <a:xfrm>
            <a:off x="658368" y="1828800"/>
            <a:ext cx="10881360" cy="658368"/>
          </a:xfrm>
          <a:prstGeom prst="roundRect">
            <a:avLst/>
          </a:prstGeom>
          <a:solidFill>
            <a:srgbClr val="F4F7FA"/>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901952"/>
            <a:ext cx="10661904" cy="274320"/>
          </a:xfrm>
          <a:prstGeom prst="rect">
            <a:avLst/>
          </a:prstGeom>
          <a:noFill/>
        </p:spPr>
        <p:txBody>
          <a:bodyPr wrap="square" lIns="36576" rIns="36576" anchor="ctr">
            <a:spAutoFit/>
          </a:bodyPr>
          <a:lstStyle/>
          <a:p>
            <a:pPr algn="l">
              <a:defRPr sz="1250" b="1">
                <a:solidFill>
                  <a:srgbClr val="1F4E79"/>
                </a:solidFill>
              </a:defRPr>
            </a:pPr>
            <a:r>
              <a:t>Relevant implications</a:t>
            </a:r>
          </a:p>
        </p:txBody>
      </p:sp>
      <p:sp>
        <p:nvSpPr>
          <p:cNvPr id="10" name="TextBox 9"/>
          <p:cNvSpPr txBox="1"/>
          <p:nvPr/>
        </p:nvSpPr>
        <p:spPr>
          <a:xfrm>
            <a:off x="768096" y="2176272"/>
            <a:ext cx="10661904" cy="246887"/>
          </a:xfrm>
          <a:prstGeom prst="rect">
            <a:avLst/>
          </a:prstGeom>
          <a:noFill/>
        </p:spPr>
        <p:txBody>
          <a:bodyPr wrap="square" lIns="36576" rIns="36576" anchor="ctr">
            <a:spAutoFit/>
          </a:bodyPr>
          <a:lstStyle/>
          <a:p>
            <a:pPr algn="l">
              <a:defRPr sz="1050" b="0">
                <a:solidFill>
                  <a:srgbClr val="202529"/>
                </a:solidFill>
              </a:defRPr>
            </a:pPr>
            <a:r>
              <a:t>Each implication is expressed as RISK → REQUIREMENT → EVIDENCE, which makes the design decision testable.</a:t>
            </a:r>
          </a:p>
        </p:txBody>
      </p:sp>
      <p:sp>
        <p:nvSpPr>
          <p:cNvPr id="11" name="Rounded Rectangle 10"/>
          <p:cNvSpPr/>
          <p:nvPr/>
        </p:nvSpPr>
        <p:spPr>
          <a:xfrm>
            <a:off x="658368" y="2578608"/>
            <a:ext cx="10881360" cy="658368"/>
          </a:xfrm>
          <a:prstGeom prst="roundRect">
            <a:avLst/>
          </a:prstGeom>
          <a:solidFill>
            <a:srgbClr val="F4F7FA"/>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651760"/>
            <a:ext cx="10661904" cy="274320"/>
          </a:xfrm>
          <a:prstGeom prst="rect">
            <a:avLst/>
          </a:prstGeom>
          <a:noFill/>
        </p:spPr>
        <p:txBody>
          <a:bodyPr wrap="square" lIns="36576" rIns="36576" anchor="ctr">
            <a:spAutoFit/>
          </a:bodyPr>
          <a:lstStyle/>
          <a:p>
            <a:pPr algn="l">
              <a:defRPr sz="1250" b="1">
                <a:solidFill>
                  <a:srgbClr val="1F4E79"/>
                </a:solidFill>
              </a:defRPr>
            </a:pPr>
            <a:r>
              <a:t>Data minimisation</a:t>
            </a:r>
          </a:p>
        </p:txBody>
      </p:sp>
      <p:sp>
        <p:nvSpPr>
          <p:cNvPr id="13" name="TextBox 12"/>
          <p:cNvSpPr txBox="1"/>
          <p:nvPr/>
        </p:nvSpPr>
        <p:spPr>
          <a:xfrm>
            <a:off x="768096" y="2926079"/>
            <a:ext cx="10661904" cy="246887"/>
          </a:xfrm>
          <a:prstGeom prst="rect">
            <a:avLst/>
          </a:prstGeom>
          <a:noFill/>
        </p:spPr>
        <p:txBody>
          <a:bodyPr wrap="square" lIns="36576" rIns="36576" anchor="ctr">
            <a:spAutoFit/>
          </a:bodyPr>
          <a:lstStyle/>
          <a:p>
            <a:pPr algn="l">
              <a:defRPr sz="1050" b="0">
                <a:solidFill>
                  <a:srgbClr val="202529"/>
                </a:solidFill>
              </a:defRPr>
            </a:pPr>
            <a:r>
              <a:t>The flow diagram makes explicit where personal data is not needed, supporting privacy and user agency.</a:t>
            </a:r>
          </a:p>
        </p:txBody>
      </p:sp>
      <p:sp>
        <p:nvSpPr>
          <p:cNvPr id="14" name="Rounded Rectangle 13"/>
          <p:cNvSpPr/>
          <p:nvPr/>
        </p:nvSpPr>
        <p:spPr>
          <a:xfrm>
            <a:off x="658368" y="3328415"/>
            <a:ext cx="10881360" cy="658368"/>
          </a:xfrm>
          <a:prstGeom prst="roundRect">
            <a:avLst/>
          </a:prstGeom>
          <a:solidFill>
            <a:srgbClr val="F4F7FA"/>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3401568"/>
            <a:ext cx="10661904" cy="274320"/>
          </a:xfrm>
          <a:prstGeom prst="rect">
            <a:avLst/>
          </a:prstGeom>
          <a:noFill/>
        </p:spPr>
        <p:txBody>
          <a:bodyPr wrap="square" lIns="36576" rIns="36576" anchor="ctr">
            <a:spAutoFit/>
          </a:bodyPr>
          <a:lstStyle/>
          <a:p>
            <a:pPr algn="l">
              <a:defRPr sz="1250" b="1">
                <a:solidFill>
                  <a:srgbClr val="1F4E79"/>
                </a:solidFill>
              </a:defRPr>
            </a:pPr>
            <a:r>
              <a:t>Neutrality without false balance</a:t>
            </a:r>
          </a:p>
        </p:txBody>
      </p:sp>
      <p:sp>
        <p:nvSpPr>
          <p:cNvPr id="16" name="TextBox 15"/>
          <p:cNvSpPr txBox="1"/>
          <p:nvPr/>
        </p:nvSpPr>
        <p:spPr>
          <a:xfrm>
            <a:off x="768096" y="3675887"/>
            <a:ext cx="10661904" cy="246887"/>
          </a:xfrm>
          <a:prstGeom prst="rect">
            <a:avLst/>
          </a:prstGeom>
          <a:noFill/>
        </p:spPr>
        <p:txBody>
          <a:bodyPr wrap="square" lIns="36576" rIns="36576" anchor="ctr">
            <a:spAutoFit/>
          </a:bodyPr>
          <a:lstStyle/>
          <a:p>
            <a:pPr algn="l">
              <a:defRPr sz="1050" b="0">
                <a:solidFill>
                  <a:srgbClr val="202529"/>
                </a:solidFill>
              </a:defRPr>
            </a:pPr>
            <a:r>
              <a:t>The service is designed not to steer political preference; that does not require treating unsupported claims as equally credible.</a:t>
            </a:r>
          </a:p>
        </p:txBody>
      </p:sp>
      <p:sp>
        <p:nvSpPr>
          <p:cNvPr id="17" name="Rounded Rectangle 16"/>
          <p:cNvSpPr/>
          <p:nvPr/>
        </p:nvSpPr>
        <p:spPr>
          <a:xfrm>
            <a:off x="658368" y="4078224"/>
            <a:ext cx="10881360" cy="658368"/>
          </a:xfrm>
          <a:prstGeom prst="roundRect">
            <a:avLst/>
          </a:prstGeom>
          <a:solidFill>
            <a:srgbClr val="F4F7FA"/>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4151376"/>
            <a:ext cx="10661904" cy="274320"/>
          </a:xfrm>
          <a:prstGeom prst="rect">
            <a:avLst/>
          </a:prstGeom>
          <a:noFill/>
        </p:spPr>
        <p:txBody>
          <a:bodyPr wrap="square" lIns="36576" rIns="36576" anchor="ctr">
            <a:spAutoFit/>
          </a:bodyPr>
          <a:lstStyle/>
          <a:p>
            <a:pPr algn="l">
              <a:defRPr sz="1250" b="1">
                <a:solidFill>
                  <a:srgbClr val="1F4E79"/>
                </a:solidFill>
              </a:defRPr>
            </a:pPr>
            <a:r>
              <a:t>Justified evaluation</a:t>
            </a:r>
          </a:p>
        </p:txBody>
      </p:sp>
      <p:sp>
        <p:nvSpPr>
          <p:cNvPr id="19" name="TextBox 18"/>
          <p:cNvSpPr txBox="1"/>
          <p:nvPr/>
        </p:nvSpPr>
        <p:spPr>
          <a:xfrm>
            <a:off x="768096" y="4425696"/>
            <a:ext cx="10661904" cy="246887"/>
          </a:xfrm>
          <a:prstGeom prst="rect">
            <a:avLst/>
          </a:prstGeom>
          <a:noFill/>
        </p:spPr>
        <p:txBody>
          <a:bodyPr wrap="square" lIns="36576" rIns="36576" anchor="ctr">
            <a:spAutoFit/>
          </a:bodyPr>
          <a:lstStyle/>
          <a:p>
            <a:pPr algn="l">
              <a:defRPr sz="1050" b="0">
                <a:solidFill>
                  <a:srgbClr val="202529"/>
                </a:solidFill>
              </a:defRPr>
            </a:pPr>
            <a:r>
              <a:t>The evaluation identifies a real design tension, weighs competing considerations and proposes a defensible response.</a:t>
            </a:r>
          </a:p>
        </p:txBody>
      </p:sp>
      <p:sp>
        <p:nvSpPr>
          <p:cNvPr id="20" name="Rounded Rectangle 19"/>
          <p:cNvSpPr/>
          <p:nvPr/>
        </p:nvSpPr>
        <p:spPr>
          <a:xfrm>
            <a:off x="658368" y="4828032"/>
            <a:ext cx="10881360" cy="658368"/>
          </a:xfrm>
          <a:prstGeom prst="roundRect">
            <a:avLst/>
          </a:prstGeom>
          <a:solidFill>
            <a:srgbClr val="F4F7FA"/>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4901184"/>
            <a:ext cx="10661904" cy="274320"/>
          </a:xfrm>
          <a:prstGeom prst="rect">
            <a:avLst/>
          </a:prstGeom>
          <a:noFill/>
        </p:spPr>
        <p:txBody>
          <a:bodyPr wrap="square" lIns="36576" rIns="36576" anchor="ctr">
            <a:spAutoFit/>
          </a:bodyPr>
          <a:lstStyle/>
          <a:p>
            <a:pPr algn="l">
              <a:defRPr sz="1250" b="1">
                <a:solidFill>
                  <a:srgbClr val="1F4E79"/>
                </a:solidFill>
              </a:defRPr>
            </a:pPr>
            <a:r>
              <a:t>Year-level progression</a:t>
            </a:r>
          </a:p>
        </p:txBody>
      </p:sp>
      <p:sp>
        <p:nvSpPr>
          <p:cNvPr id="22" name="TextBox 21"/>
          <p:cNvSpPr txBox="1"/>
          <p:nvPr/>
        </p:nvSpPr>
        <p:spPr>
          <a:xfrm>
            <a:off x="768096" y="5175504"/>
            <a:ext cx="10661904" cy="246887"/>
          </a:xfrm>
          <a:prstGeom prst="rect">
            <a:avLst/>
          </a:prstGeom>
          <a:noFill/>
        </p:spPr>
        <p:txBody>
          <a:bodyPr wrap="square" lIns="36576" rIns="36576" anchor="ctr">
            <a:spAutoFit/>
          </a:bodyPr>
          <a:lstStyle/>
          <a:p>
            <a:pPr algn="l">
              <a:defRPr sz="1050" b="0">
                <a:solidFill>
                  <a:srgbClr val="202529"/>
                </a:solidFill>
              </a:defRPr>
            </a:pPr>
            <a:r>
              <a:t>Y11 can explain and justify; Y12 should analyse interactions/trade-offs; Y13 should critically evaluate limitations, competing values and consequences.</a:t>
            </a:r>
          </a:p>
        </p:txBody>
      </p:sp>
      <p:sp>
        <p:nvSpPr>
          <p:cNvPr id="23" name="TextBox 22"/>
          <p:cNvSpPr txBox="1"/>
          <p:nvPr/>
        </p:nvSpPr>
        <p:spPr>
          <a:xfrm>
            <a:off x="640080" y="6364224"/>
            <a:ext cx="10881360" cy="228600"/>
          </a:xfrm>
          <a:prstGeom prst="rect">
            <a:avLst/>
          </a:prstGeom>
          <a:noFill/>
        </p:spPr>
        <p:txBody>
          <a:bodyPr wrap="square" lIns="36576" rIns="36576" anchor="ctr">
            <a:spAutoFit/>
          </a:bodyPr>
          <a:lstStyle/>
          <a:p>
            <a:pPr algn="ctr">
              <a:defRPr sz="800" b="1">
                <a:solidFill>
                  <a:srgbClr val="9E1B0B"/>
                </a:solidFill>
              </a:defRPr>
            </a:pPr>
            <a:r>
              <a:t>This is a model of structure and quality. Students should create their own fictional issue and wording rather than copy this exemplar.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