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PROTECTING EARTH’S OZONE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FFFFF"/>
                </a:solidFill>
              </a:defRPr>
            </a:pPr>
            <a:r>
              <a:t>YEAR 7/8 EXEMPLAR • DIGITAL INFOGRAPHIC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5204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52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WHAT IS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32461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The ozone layer is a region high in the atmosphere containing ozone (O₃). It helps protect life by reducing harmful ultraviolet (UV) radiation reaching Earth.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43000"/>
            <a:ext cx="35204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52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18488"/>
            <a:ext cx="32461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Chemicals such as CFCs were used in refrigerators, air conditioners and aerosols. When they reached the upper atmosphere, they damaged protective ozone.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143000"/>
            <a:ext cx="35204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527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THE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618488"/>
            <a:ext cx="324612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Countries agreed to the Montreal Protocol in 1987 and reduced ozone-depleting chemicals. Industries changed products and cooling technologies.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80360"/>
            <a:ext cx="53949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900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PROBLEM → RESPONSE →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55848"/>
            <a:ext cx="51206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CFC-based technology → ozone damage → global controls + redesigned technology → ozone-depleting substances decline and the ozone layer moves toward recovery.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80360"/>
            <a:ext cx="54406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9008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AOTEAROA NEW ZEALAND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55848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New Zealand phased out imports of CFCs by 1996 and HCFCs by 2015. Protecting ozone matters here because ozone helps reduce harmful UV reaching the surface.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26280"/>
            <a:ext cx="112014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36008"/>
            <a:ext cx="10927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WHY 16 SEPTEMBER?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01768"/>
            <a:ext cx="109270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International Day for the Preservation of the Ozone Layer is held on 16 September. It marks the date the Montreal Protocol was agreed in 1987.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F5F5F"/>
                </a:solidFill>
              </a:defRPr>
            </a:pPr>
            <a:r>
              <a:t>Sources: United Nations – Ozone Day • NZ Ministry for the Environment – Ozone-depleting substances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FOR RELIEVER USE – Why this exemplar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612648"/>
            <a:ext cx="11155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FFFFF"/>
                </a:solidFill>
              </a:defRPr>
            </a:pPr>
            <a:r>
              <a:t>Year 7/8 • show after explaining the task, or keep as a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Clear visual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18488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The reader can see the six key ideas quickly. Headings are larger than supporting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92807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02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Age-appropriate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68296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The science is accurate but simplified. Students are not expected to explain atmospheric chemistry in detail.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42615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523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Digital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18103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Information is organised into visual chunks and a cause-and-effect sequence rather than long paragraphs.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92423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0215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NZ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1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The exemplar includes a specific New Zealand response rather than a generic statement about UV.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42231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51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Source acknowledgement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17719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Two authoritative starting sources are identified. Student work should also acknowledge sources.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92040"/>
            <a:ext cx="10789920" cy="658368"/>
          </a:xfrm>
          <a:prstGeom prst="roundRect">
            <a:avLst/>
          </a:prstGeom>
          <a:solidFill>
            <a:srgbClr val="F2F6F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Expected 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67527"/>
            <a:ext cx="105156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32323"/>
                </a:solidFill>
              </a:defRPr>
            </a:pPr>
            <a:r>
              <a:t>A successful Year 7/8 outcome communicates the main story clearly; sophistication of scientific analysis is not the goal.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E1B0B"/>
                </a:solidFill>
              </a:defRPr>
            </a:pPr>
            <a:r>
              <a:t>This is a model of structure and quality. Students should not copy its wording.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