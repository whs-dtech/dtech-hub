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46304"/>
            <a:ext cx="11338560" cy="411480"/>
          </a:xfrm>
          <a:prstGeom prst="rect">
            <a:avLst/>
          </a:prstGeom>
          <a:noFill/>
        </p:spPr>
        <p:txBody>
          <a:bodyPr wrap="square">
            <a:spAutoFit/>
          </a:bodyPr>
          <a:lstStyle/>
          <a:p>
            <a:pPr>
              <a:defRPr sz="2400" b="1">
                <a:solidFill>
                  <a:srgbClr val="FFFFFF"/>
                </a:solidFill>
              </a:defRPr>
            </a:pPr>
            <a:r>
              <a:t>OZONE LAYER • TECHNOLOGY SYSTEMS EVIDENCE BRIEF</a:t>
            </a:r>
          </a:p>
        </p:txBody>
      </p:sp>
      <p:sp>
        <p:nvSpPr>
          <p:cNvPr id="4" name="TextBox 3"/>
          <p:cNvSpPr txBox="1"/>
          <p:nvPr/>
        </p:nvSpPr>
        <p:spPr>
          <a:xfrm>
            <a:off x="438912" y="612648"/>
            <a:ext cx="11155680" cy="182880"/>
          </a:xfrm>
          <a:prstGeom prst="rect">
            <a:avLst/>
          </a:prstGeom>
          <a:noFill/>
        </p:spPr>
        <p:txBody>
          <a:bodyPr wrap="square">
            <a:spAutoFit/>
          </a:bodyPr>
          <a:lstStyle/>
          <a:p>
            <a:pPr>
              <a:defRPr sz="800" b="0">
                <a:solidFill>
                  <a:srgbClr val="FFFFFF"/>
                </a:solidFill>
              </a:defRPr>
            </a:pPr>
            <a:r>
              <a:t>YEAR 11/12/13 EXEMPLAR • EVIDENCE + EVALUATION</a:t>
            </a:r>
          </a:p>
        </p:txBody>
      </p:sp>
      <p:sp>
        <p:nvSpPr>
          <p:cNvPr id="5" name="Rounded Rectangle 4"/>
          <p:cNvSpPr/>
          <p:nvPr/>
        </p:nvSpPr>
        <p:spPr>
          <a:xfrm>
            <a:off x="502920" y="1051560"/>
            <a:ext cx="3474720" cy="1417320"/>
          </a:xfrm>
          <a:prstGeom prst="roundRect">
            <a:avLst/>
          </a:prstGeom>
          <a:solidFill>
            <a:srgbClr val="F2F6FA"/>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61288"/>
            <a:ext cx="3200400" cy="320040"/>
          </a:xfrm>
          <a:prstGeom prst="rect">
            <a:avLst/>
          </a:prstGeom>
          <a:noFill/>
        </p:spPr>
        <p:txBody>
          <a:bodyPr wrap="square">
            <a:spAutoFit/>
          </a:bodyPr>
          <a:lstStyle/>
          <a:p>
            <a:pPr>
              <a:defRPr sz="1400" b="1">
                <a:solidFill>
                  <a:srgbClr val="1F4E79"/>
                </a:solidFill>
              </a:defRPr>
            </a:pPr>
            <a:r>
              <a:t>CONTEXT</a:t>
            </a:r>
          </a:p>
        </p:txBody>
      </p:sp>
      <p:sp>
        <p:nvSpPr>
          <p:cNvPr id="7" name="TextBox 6"/>
          <p:cNvSpPr txBox="1"/>
          <p:nvPr/>
        </p:nvSpPr>
        <p:spPr>
          <a:xfrm>
            <a:off x="640080" y="1527048"/>
            <a:ext cx="3200400" cy="850392"/>
          </a:xfrm>
          <a:prstGeom prst="rect">
            <a:avLst/>
          </a:prstGeom>
          <a:noFill/>
        </p:spPr>
        <p:txBody>
          <a:bodyPr wrap="square">
            <a:spAutoFit/>
          </a:bodyPr>
          <a:lstStyle/>
          <a:p>
            <a:pPr>
              <a:defRPr sz="1100" b="0">
                <a:solidFill>
                  <a:srgbClr val="232323"/>
                </a:solidFill>
              </a:defRPr>
            </a:pPr>
            <a:r>
              <a:t>CFCs offered useful technical properties and were widely adopted in refrigeration, air-conditioning, aerosols and other applications. Their benefits encouraged large-scale use before their atmospheric consequences were fully understood.</a:t>
            </a:r>
          </a:p>
        </p:txBody>
      </p:sp>
      <p:sp>
        <p:nvSpPr>
          <p:cNvPr id="8" name="Rounded Rectangle 7"/>
          <p:cNvSpPr/>
          <p:nvPr/>
        </p:nvSpPr>
        <p:spPr>
          <a:xfrm>
            <a:off x="4343400" y="1051560"/>
            <a:ext cx="3474720" cy="1417320"/>
          </a:xfrm>
          <a:prstGeom prst="roundRect">
            <a:avLst/>
          </a:prstGeom>
          <a:solidFill>
            <a:srgbClr val="F2F6FA"/>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161288"/>
            <a:ext cx="3200400" cy="320040"/>
          </a:xfrm>
          <a:prstGeom prst="rect">
            <a:avLst/>
          </a:prstGeom>
          <a:noFill/>
        </p:spPr>
        <p:txBody>
          <a:bodyPr wrap="square">
            <a:spAutoFit/>
          </a:bodyPr>
          <a:lstStyle/>
          <a:p>
            <a:pPr>
              <a:defRPr sz="1400" b="1">
                <a:solidFill>
                  <a:srgbClr val="1F4E79"/>
                </a:solidFill>
              </a:defRPr>
            </a:pPr>
            <a:r>
              <a:t>EVIDENCE</a:t>
            </a:r>
          </a:p>
        </p:txBody>
      </p:sp>
      <p:sp>
        <p:nvSpPr>
          <p:cNvPr id="10" name="TextBox 9"/>
          <p:cNvSpPr txBox="1"/>
          <p:nvPr/>
        </p:nvSpPr>
        <p:spPr>
          <a:xfrm>
            <a:off x="4480560" y="1527048"/>
            <a:ext cx="3200400" cy="850392"/>
          </a:xfrm>
          <a:prstGeom prst="rect">
            <a:avLst/>
          </a:prstGeom>
          <a:noFill/>
        </p:spPr>
        <p:txBody>
          <a:bodyPr wrap="square">
            <a:spAutoFit/>
          </a:bodyPr>
          <a:lstStyle/>
          <a:p>
            <a:pPr>
              <a:defRPr sz="1100" b="0">
                <a:solidFill>
                  <a:srgbClr val="232323"/>
                </a:solidFill>
              </a:defRPr>
            </a:pPr>
            <a:r>
              <a:t>Research established that ozone-depleting substances damage stratospheric ozone. Reduced ozone increases the amount of harmful UV reaching Earth. Monitoring has since shown long-term decreases in controlled ozone-depleting substances.</a:t>
            </a:r>
          </a:p>
        </p:txBody>
      </p:sp>
      <p:sp>
        <p:nvSpPr>
          <p:cNvPr id="11" name="Rounded Rectangle 10"/>
          <p:cNvSpPr/>
          <p:nvPr/>
        </p:nvSpPr>
        <p:spPr>
          <a:xfrm>
            <a:off x="8183879" y="1051560"/>
            <a:ext cx="3474720" cy="1417320"/>
          </a:xfrm>
          <a:prstGeom prst="roundRect">
            <a:avLst/>
          </a:prstGeom>
          <a:solidFill>
            <a:srgbClr val="F2F6FA"/>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161288"/>
            <a:ext cx="3200400" cy="320040"/>
          </a:xfrm>
          <a:prstGeom prst="rect">
            <a:avLst/>
          </a:prstGeom>
          <a:noFill/>
        </p:spPr>
        <p:txBody>
          <a:bodyPr wrap="square">
            <a:spAutoFit/>
          </a:bodyPr>
          <a:lstStyle/>
          <a:p>
            <a:pPr>
              <a:defRPr sz="1400" b="1">
                <a:solidFill>
                  <a:srgbClr val="1F4E79"/>
                </a:solidFill>
              </a:defRPr>
            </a:pPr>
            <a:r>
              <a:t>RESPONSE</a:t>
            </a:r>
          </a:p>
        </p:txBody>
      </p:sp>
      <p:sp>
        <p:nvSpPr>
          <p:cNvPr id="13" name="TextBox 12"/>
          <p:cNvSpPr txBox="1"/>
          <p:nvPr/>
        </p:nvSpPr>
        <p:spPr>
          <a:xfrm>
            <a:off x="8321040" y="1527048"/>
            <a:ext cx="3200400" cy="850392"/>
          </a:xfrm>
          <a:prstGeom prst="rect">
            <a:avLst/>
          </a:prstGeom>
          <a:noFill/>
        </p:spPr>
        <p:txBody>
          <a:bodyPr wrap="square">
            <a:spAutoFit/>
          </a:bodyPr>
          <a:lstStyle/>
          <a:p>
            <a:pPr>
              <a:defRPr sz="1100" b="0">
                <a:solidFill>
                  <a:srgbClr val="232323"/>
                </a:solidFill>
              </a:defRPr>
            </a:pPr>
            <a:r>
              <a:t>The Montreal Protocol coordinated international phase-outs. In NZ, obligations are implemented through the Ozone Layer Protection Act 1996 and regulations. Industry had to adapt technologies and refrigerants.</a:t>
            </a:r>
          </a:p>
        </p:txBody>
      </p:sp>
      <p:sp>
        <p:nvSpPr>
          <p:cNvPr id="14" name="Rounded Rectangle 13"/>
          <p:cNvSpPr/>
          <p:nvPr/>
        </p:nvSpPr>
        <p:spPr>
          <a:xfrm>
            <a:off x="502920" y="2788920"/>
            <a:ext cx="5394960" cy="1417320"/>
          </a:xfrm>
          <a:prstGeom prst="roundRect">
            <a:avLst/>
          </a:prstGeom>
          <a:solidFill>
            <a:srgbClr val="F2F6FA"/>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898648"/>
            <a:ext cx="5120640" cy="320040"/>
          </a:xfrm>
          <a:prstGeom prst="rect">
            <a:avLst/>
          </a:prstGeom>
          <a:noFill/>
        </p:spPr>
        <p:txBody>
          <a:bodyPr wrap="square">
            <a:spAutoFit/>
          </a:bodyPr>
          <a:lstStyle/>
          <a:p>
            <a:pPr>
              <a:defRPr sz="1400" b="1">
                <a:solidFill>
                  <a:srgbClr val="1F4E79"/>
                </a:solidFill>
              </a:defRPr>
            </a:pPr>
            <a:r>
              <a:t>IMPACT + LIMITATION</a:t>
            </a:r>
          </a:p>
        </p:txBody>
      </p:sp>
      <p:sp>
        <p:nvSpPr>
          <p:cNvPr id="16" name="TextBox 15"/>
          <p:cNvSpPr txBox="1"/>
          <p:nvPr/>
        </p:nvSpPr>
        <p:spPr>
          <a:xfrm>
            <a:off x="640080" y="3264408"/>
            <a:ext cx="5120640" cy="850392"/>
          </a:xfrm>
          <a:prstGeom prst="rect">
            <a:avLst/>
          </a:prstGeom>
          <a:noFill/>
        </p:spPr>
        <p:txBody>
          <a:bodyPr wrap="square">
            <a:spAutoFit/>
          </a:bodyPr>
          <a:lstStyle/>
          <a:p>
            <a:pPr>
              <a:defRPr sz="1100" b="0">
                <a:solidFill>
                  <a:srgbClr val="232323"/>
                </a:solidFill>
              </a:defRPr>
            </a:pPr>
            <a:r>
              <a:t>The ozone layer is on track to recover, with global ozone projected to return toward pre-1980 levels over coming decades. Recovery varies and is gradual, so ‘problem solved’ would overstate the evidence.</a:t>
            </a:r>
          </a:p>
        </p:txBody>
      </p:sp>
      <p:sp>
        <p:nvSpPr>
          <p:cNvPr id="17" name="Rounded Rectangle 16"/>
          <p:cNvSpPr/>
          <p:nvPr/>
        </p:nvSpPr>
        <p:spPr>
          <a:xfrm>
            <a:off x="6263640" y="2788920"/>
            <a:ext cx="5394960" cy="1417320"/>
          </a:xfrm>
          <a:prstGeom prst="roundRect">
            <a:avLst/>
          </a:prstGeom>
          <a:solidFill>
            <a:srgbClr val="F2F6FA"/>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898648"/>
            <a:ext cx="5120640" cy="320040"/>
          </a:xfrm>
          <a:prstGeom prst="rect">
            <a:avLst/>
          </a:prstGeom>
          <a:noFill/>
        </p:spPr>
        <p:txBody>
          <a:bodyPr wrap="square">
            <a:spAutoFit/>
          </a:bodyPr>
          <a:lstStyle/>
          <a:p>
            <a:pPr>
              <a:defRPr sz="1400" b="1">
                <a:solidFill>
                  <a:srgbClr val="1F4E79"/>
                </a:solidFill>
              </a:defRPr>
            </a:pPr>
            <a:r>
              <a:t>SECOND-ORDER CONSEQUENCE</a:t>
            </a:r>
          </a:p>
        </p:txBody>
      </p:sp>
      <p:sp>
        <p:nvSpPr>
          <p:cNvPr id="19" name="TextBox 18"/>
          <p:cNvSpPr txBox="1"/>
          <p:nvPr/>
        </p:nvSpPr>
        <p:spPr>
          <a:xfrm>
            <a:off x="6400800" y="3264408"/>
            <a:ext cx="5120640" cy="850392"/>
          </a:xfrm>
          <a:prstGeom prst="rect">
            <a:avLst/>
          </a:prstGeom>
          <a:noFill/>
        </p:spPr>
        <p:txBody>
          <a:bodyPr wrap="square">
            <a:spAutoFit/>
          </a:bodyPr>
          <a:lstStyle/>
          <a:p>
            <a:pPr>
              <a:defRPr sz="1100" b="0">
                <a:solidFill>
                  <a:srgbClr val="232323"/>
                </a:solidFill>
              </a:defRPr>
            </a:pPr>
            <a:r>
              <a:t>HFCs became substitutes for some ozone-depleting refrigerants. They do not deplete ozone, but many are potent greenhouse gases. The Kigali Amendment therefore phases down HFCs, showing iterative technological problem-solving.</a:t>
            </a:r>
          </a:p>
        </p:txBody>
      </p:sp>
      <p:sp>
        <p:nvSpPr>
          <p:cNvPr id="20" name="Rounded Rectangle 19"/>
          <p:cNvSpPr/>
          <p:nvPr/>
        </p:nvSpPr>
        <p:spPr>
          <a:xfrm>
            <a:off x="502920" y="4526280"/>
            <a:ext cx="11155680" cy="1234440"/>
          </a:xfrm>
          <a:prstGeom prst="roundRect">
            <a:avLst/>
          </a:prstGeom>
          <a:solidFill>
            <a:srgbClr val="F2F6FA"/>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636008"/>
            <a:ext cx="10881359" cy="320040"/>
          </a:xfrm>
          <a:prstGeom prst="rect">
            <a:avLst/>
          </a:prstGeom>
          <a:noFill/>
        </p:spPr>
        <p:txBody>
          <a:bodyPr wrap="square">
            <a:spAutoFit/>
          </a:bodyPr>
          <a:lstStyle/>
          <a:p>
            <a:pPr>
              <a:defRPr sz="1400" b="1">
                <a:solidFill>
                  <a:srgbClr val="1F4E79"/>
                </a:solidFill>
              </a:defRPr>
            </a:pPr>
            <a:r>
              <a:t>TECHNOLOGY JUDGEMENT</a:t>
            </a:r>
          </a:p>
        </p:txBody>
      </p:sp>
      <p:sp>
        <p:nvSpPr>
          <p:cNvPr id="22" name="TextBox 21"/>
          <p:cNvSpPr txBox="1"/>
          <p:nvPr/>
        </p:nvSpPr>
        <p:spPr>
          <a:xfrm>
            <a:off x="640080" y="5001768"/>
            <a:ext cx="10881359" cy="667512"/>
          </a:xfrm>
          <a:prstGeom prst="rect">
            <a:avLst/>
          </a:prstGeom>
          <a:noFill/>
        </p:spPr>
        <p:txBody>
          <a:bodyPr wrap="square">
            <a:spAutoFit/>
          </a:bodyPr>
          <a:lstStyle/>
          <a:p>
            <a:pPr>
              <a:defRPr sz="1100" b="0">
                <a:solidFill>
                  <a:srgbClr val="232323"/>
                </a:solidFill>
              </a:defRPr>
            </a:pPr>
            <a:r>
              <a:t>Technologists cannot predict every future consequence, but they have a responsibility to respond when credible evidence reveals harm. This means monitoring outcomes, being willing to redesign, considering impacts beyond immediate functionality, and communicating uncertainty. The ozone case also shows that technical redesign alone may be insufficient: standards, regulation, international coordination and evidence can all shape whether safer alternatives are adopted.</a:t>
            </a:r>
          </a:p>
        </p:txBody>
      </p:sp>
      <p:sp>
        <p:nvSpPr>
          <p:cNvPr id="23" name="TextBox 22"/>
          <p:cNvSpPr txBox="1"/>
          <p:nvPr/>
        </p:nvSpPr>
        <p:spPr>
          <a:xfrm>
            <a:off x="502920" y="6263640"/>
            <a:ext cx="11155680" cy="320040"/>
          </a:xfrm>
          <a:prstGeom prst="rect">
            <a:avLst/>
          </a:prstGeom>
          <a:noFill/>
        </p:spPr>
        <p:txBody>
          <a:bodyPr wrap="square">
            <a:spAutoFit/>
          </a:bodyPr>
          <a:lstStyle/>
          <a:p>
            <a:pPr algn="ctr">
              <a:defRPr sz="800" b="0">
                <a:solidFill>
                  <a:srgbClr val="5F5F5F"/>
                </a:solidFill>
              </a:defRPr>
            </a:pPr>
            <a:r>
              <a:t>Sources: UN Ozone Day • NZ Ministry for the Environment – Montreal Protocol / ODS • MfE Our Environment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46304"/>
            <a:ext cx="11338560" cy="411480"/>
          </a:xfrm>
          <a:prstGeom prst="rect">
            <a:avLst/>
          </a:prstGeom>
          <a:noFill/>
        </p:spPr>
        <p:txBody>
          <a:bodyPr wrap="square">
            <a:spAutoFit/>
          </a:bodyPr>
          <a:lstStyle/>
          <a:p>
            <a:pPr>
              <a:defRPr sz="2400" b="1">
                <a:solidFill>
                  <a:srgbClr val="FFFFFF"/>
                </a:solidFill>
              </a:defRPr>
            </a:pPr>
            <a:r>
              <a:t>FOR RELIEVER USE – Why this exemplar works</a:t>
            </a:r>
          </a:p>
        </p:txBody>
      </p:sp>
      <p:sp>
        <p:nvSpPr>
          <p:cNvPr id="4" name="TextBox 3"/>
          <p:cNvSpPr txBox="1"/>
          <p:nvPr/>
        </p:nvSpPr>
        <p:spPr>
          <a:xfrm>
            <a:off x="438912" y="612648"/>
            <a:ext cx="11155680" cy="182880"/>
          </a:xfrm>
          <a:prstGeom prst="rect">
            <a:avLst/>
          </a:prstGeom>
          <a:noFill/>
        </p:spPr>
        <p:txBody>
          <a:bodyPr wrap="square">
            <a:spAutoFit/>
          </a:bodyPr>
          <a:lstStyle/>
          <a:p>
            <a:pPr>
              <a:defRPr sz="800" b="0">
                <a:solidFill>
                  <a:srgbClr val="FFFFFF"/>
                </a:solidFill>
              </a:defRPr>
            </a:pPr>
            <a:r>
              <a:t>Year 11/12/13 • show after explaining the task, or keep as a reference</a:t>
            </a:r>
          </a:p>
        </p:txBody>
      </p:sp>
      <p:sp>
        <p:nvSpPr>
          <p:cNvPr id="5" name="Rounded Rectangle 4"/>
          <p:cNvSpPr/>
          <p:nvPr/>
        </p:nvSpPr>
        <p:spPr>
          <a:xfrm>
            <a:off x="685800" y="1143000"/>
            <a:ext cx="10789920" cy="658368"/>
          </a:xfrm>
          <a:prstGeom prst="roundRect">
            <a:avLst/>
          </a:prstGeom>
          <a:solidFill>
            <a:srgbClr val="F2F6FA"/>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252728"/>
            <a:ext cx="10515600" cy="320040"/>
          </a:xfrm>
          <a:prstGeom prst="rect">
            <a:avLst/>
          </a:prstGeom>
          <a:noFill/>
        </p:spPr>
        <p:txBody>
          <a:bodyPr wrap="square">
            <a:spAutoFit/>
          </a:bodyPr>
          <a:lstStyle/>
          <a:p>
            <a:pPr>
              <a:defRPr sz="1400" b="1">
                <a:solidFill>
                  <a:srgbClr val="1F4E79"/>
                </a:solidFill>
              </a:defRPr>
            </a:pPr>
            <a:r>
              <a:t>Evidence brief, not poster</a:t>
            </a:r>
          </a:p>
        </p:txBody>
      </p:sp>
      <p:sp>
        <p:nvSpPr>
          <p:cNvPr id="7" name="TextBox 6"/>
          <p:cNvSpPr txBox="1"/>
          <p:nvPr/>
        </p:nvSpPr>
        <p:spPr>
          <a:xfrm>
            <a:off x="822960" y="1618488"/>
            <a:ext cx="10515600" cy="91439"/>
          </a:xfrm>
          <a:prstGeom prst="rect">
            <a:avLst/>
          </a:prstGeom>
          <a:noFill/>
        </p:spPr>
        <p:txBody>
          <a:bodyPr wrap="square">
            <a:spAutoFit/>
          </a:bodyPr>
          <a:lstStyle/>
          <a:p>
            <a:pPr>
              <a:defRPr sz="1100" b="0">
                <a:solidFill>
                  <a:srgbClr val="232323"/>
                </a:solidFill>
              </a:defRPr>
            </a:pPr>
            <a:r>
              <a:t>The senior exemplar is denser, but information is still deliberately structured and concise.</a:t>
            </a:r>
          </a:p>
        </p:txBody>
      </p:sp>
      <p:sp>
        <p:nvSpPr>
          <p:cNvPr id="8" name="Rounded Rectangle 7"/>
          <p:cNvSpPr/>
          <p:nvPr/>
        </p:nvSpPr>
        <p:spPr>
          <a:xfrm>
            <a:off x="685800" y="1892807"/>
            <a:ext cx="10789920" cy="658368"/>
          </a:xfrm>
          <a:prstGeom prst="roundRect">
            <a:avLst/>
          </a:prstGeom>
          <a:solidFill>
            <a:srgbClr val="F2F6FA"/>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02536"/>
            <a:ext cx="10515600" cy="320040"/>
          </a:xfrm>
          <a:prstGeom prst="rect">
            <a:avLst/>
          </a:prstGeom>
          <a:noFill/>
        </p:spPr>
        <p:txBody>
          <a:bodyPr wrap="square">
            <a:spAutoFit/>
          </a:bodyPr>
          <a:lstStyle/>
          <a:p>
            <a:pPr>
              <a:defRPr sz="1400" b="1">
                <a:solidFill>
                  <a:srgbClr val="1F4E79"/>
                </a:solidFill>
              </a:defRPr>
            </a:pPr>
            <a:r>
              <a:t>Systems analysis</a:t>
            </a:r>
          </a:p>
        </p:txBody>
      </p:sp>
      <p:sp>
        <p:nvSpPr>
          <p:cNvPr id="10" name="TextBox 9"/>
          <p:cNvSpPr txBox="1"/>
          <p:nvPr/>
        </p:nvSpPr>
        <p:spPr>
          <a:xfrm>
            <a:off x="822960" y="2368296"/>
            <a:ext cx="10515600" cy="91439"/>
          </a:xfrm>
          <a:prstGeom prst="rect">
            <a:avLst/>
          </a:prstGeom>
          <a:noFill/>
        </p:spPr>
        <p:txBody>
          <a:bodyPr wrap="square">
            <a:spAutoFit/>
          </a:bodyPr>
          <a:lstStyle/>
          <a:p>
            <a:pPr>
              <a:defRPr sz="1100" b="0">
                <a:solidFill>
                  <a:srgbClr val="232323"/>
                </a:solidFill>
              </a:defRPr>
            </a:pPr>
            <a:r>
              <a:t>It connects technical benefits, unintended consequences, scientific evidence, regulation, redesign and subsequent trade-offs.</a:t>
            </a:r>
          </a:p>
        </p:txBody>
      </p:sp>
      <p:sp>
        <p:nvSpPr>
          <p:cNvPr id="11" name="Rounded Rectangle 10"/>
          <p:cNvSpPr/>
          <p:nvPr/>
        </p:nvSpPr>
        <p:spPr>
          <a:xfrm>
            <a:off x="685800" y="2642615"/>
            <a:ext cx="10789920" cy="658368"/>
          </a:xfrm>
          <a:prstGeom prst="roundRect">
            <a:avLst/>
          </a:prstGeom>
          <a:solidFill>
            <a:srgbClr val="F2F6FA"/>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752344"/>
            <a:ext cx="10515600" cy="320040"/>
          </a:xfrm>
          <a:prstGeom prst="rect">
            <a:avLst/>
          </a:prstGeom>
          <a:noFill/>
        </p:spPr>
        <p:txBody>
          <a:bodyPr wrap="square">
            <a:spAutoFit/>
          </a:bodyPr>
          <a:lstStyle/>
          <a:p>
            <a:pPr>
              <a:defRPr sz="1400" b="1">
                <a:solidFill>
                  <a:srgbClr val="1F4E79"/>
                </a:solidFill>
              </a:defRPr>
            </a:pPr>
            <a:r>
              <a:t>Evidence is qualified</a:t>
            </a:r>
          </a:p>
        </p:txBody>
      </p:sp>
      <p:sp>
        <p:nvSpPr>
          <p:cNvPr id="13" name="TextBox 12"/>
          <p:cNvSpPr txBox="1"/>
          <p:nvPr/>
        </p:nvSpPr>
        <p:spPr>
          <a:xfrm>
            <a:off x="822960" y="3118103"/>
            <a:ext cx="10515600" cy="91439"/>
          </a:xfrm>
          <a:prstGeom prst="rect">
            <a:avLst/>
          </a:prstGeom>
          <a:noFill/>
        </p:spPr>
        <p:txBody>
          <a:bodyPr wrap="square">
            <a:spAutoFit/>
          </a:bodyPr>
          <a:lstStyle/>
          <a:p>
            <a:pPr>
              <a:defRPr sz="1100" b="0">
                <a:solidFill>
                  <a:srgbClr val="232323"/>
                </a:solidFill>
              </a:defRPr>
            </a:pPr>
            <a:r>
              <a:t>Claims about recovery include limitations and time scale rather than presenting an absolute success claim.</a:t>
            </a:r>
          </a:p>
        </p:txBody>
      </p:sp>
      <p:sp>
        <p:nvSpPr>
          <p:cNvPr id="14" name="Rounded Rectangle 13"/>
          <p:cNvSpPr/>
          <p:nvPr/>
        </p:nvSpPr>
        <p:spPr>
          <a:xfrm>
            <a:off x="685800" y="3392423"/>
            <a:ext cx="10789920" cy="658368"/>
          </a:xfrm>
          <a:prstGeom prst="roundRect">
            <a:avLst/>
          </a:prstGeom>
          <a:solidFill>
            <a:srgbClr val="F2F6FA"/>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502151"/>
            <a:ext cx="10515600" cy="320040"/>
          </a:xfrm>
          <a:prstGeom prst="rect">
            <a:avLst/>
          </a:prstGeom>
          <a:noFill/>
        </p:spPr>
        <p:txBody>
          <a:bodyPr wrap="square">
            <a:spAutoFit/>
          </a:bodyPr>
          <a:lstStyle/>
          <a:p>
            <a:pPr>
              <a:defRPr sz="1400" b="1">
                <a:solidFill>
                  <a:srgbClr val="1F4E79"/>
                </a:solidFill>
              </a:defRPr>
            </a:pPr>
            <a:r>
              <a:t>Competing implications</a:t>
            </a:r>
          </a:p>
        </p:txBody>
      </p:sp>
      <p:sp>
        <p:nvSpPr>
          <p:cNvPr id="16" name="TextBox 15"/>
          <p:cNvSpPr txBox="1"/>
          <p:nvPr/>
        </p:nvSpPr>
        <p:spPr>
          <a:xfrm>
            <a:off x="822960" y="3867911"/>
            <a:ext cx="10515600" cy="91439"/>
          </a:xfrm>
          <a:prstGeom prst="rect">
            <a:avLst/>
          </a:prstGeom>
          <a:noFill/>
        </p:spPr>
        <p:txBody>
          <a:bodyPr wrap="square">
            <a:spAutoFit/>
          </a:bodyPr>
          <a:lstStyle/>
          <a:p>
            <a:pPr>
              <a:defRPr sz="1100" b="0">
                <a:solidFill>
                  <a:srgbClr val="232323"/>
                </a:solidFill>
              </a:defRPr>
            </a:pPr>
            <a:r>
              <a:t>The HFC/Kigali example demonstrates that technological decisions can shift risk rather than simply remove it.</a:t>
            </a:r>
          </a:p>
        </p:txBody>
      </p:sp>
      <p:sp>
        <p:nvSpPr>
          <p:cNvPr id="17" name="Rounded Rectangle 16"/>
          <p:cNvSpPr/>
          <p:nvPr/>
        </p:nvSpPr>
        <p:spPr>
          <a:xfrm>
            <a:off x="685800" y="4142231"/>
            <a:ext cx="10789920" cy="658368"/>
          </a:xfrm>
          <a:prstGeom prst="roundRect">
            <a:avLst/>
          </a:prstGeom>
          <a:solidFill>
            <a:srgbClr val="F2F6FA"/>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251959"/>
            <a:ext cx="10515600" cy="320040"/>
          </a:xfrm>
          <a:prstGeom prst="rect">
            <a:avLst/>
          </a:prstGeom>
          <a:noFill/>
        </p:spPr>
        <p:txBody>
          <a:bodyPr wrap="square">
            <a:spAutoFit/>
          </a:bodyPr>
          <a:lstStyle/>
          <a:p>
            <a:pPr>
              <a:defRPr sz="1400" b="1">
                <a:solidFill>
                  <a:srgbClr val="1F4E79"/>
                </a:solidFill>
              </a:defRPr>
            </a:pPr>
            <a:r>
              <a:t>Judgement is justified</a:t>
            </a:r>
          </a:p>
        </p:txBody>
      </p:sp>
      <p:sp>
        <p:nvSpPr>
          <p:cNvPr id="19" name="TextBox 18"/>
          <p:cNvSpPr txBox="1"/>
          <p:nvPr/>
        </p:nvSpPr>
        <p:spPr>
          <a:xfrm>
            <a:off x="822960" y="4617719"/>
            <a:ext cx="10515600" cy="91439"/>
          </a:xfrm>
          <a:prstGeom prst="rect">
            <a:avLst/>
          </a:prstGeom>
          <a:noFill/>
        </p:spPr>
        <p:txBody>
          <a:bodyPr wrap="square">
            <a:spAutoFit/>
          </a:bodyPr>
          <a:lstStyle/>
          <a:p>
            <a:pPr>
              <a:defRPr sz="1100" b="0">
                <a:solidFill>
                  <a:srgbClr val="232323"/>
                </a:solidFill>
              </a:defRPr>
            </a:pPr>
            <a:r>
              <a:t>The conclusion answers the responsibility question and explains why, instead of stating an unsupported opinion.</a:t>
            </a:r>
          </a:p>
        </p:txBody>
      </p:sp>
      <p:sp>
        <p:nvSpPr>
          <p:cNvPr id="20" name="Rounded Rectangle 19"/>
          <p:cNvSpPr/>
          <p:nvPr/>
        </p:nvSpPr>
        <p:spPr>
          <a:xfrm>
            <a:off x="685800" y="4892040"/>
            <a:ext cx="10789920" cy="658368"/>
          </a:xfrm>
          <a:prstGeom prst="roundRect">
            <a:avLst/>
          </a:prstGeom>
          <a:solidFill>
            <a:srgbClr val="F2F6FA"/>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001768"/>
            <a:ext cx="10515600" cy="320040"/>
          </a:xfrm>
          <a:prstGeom prst="rect">
            <a:avLst/>
          </a:prstGeom>
          <a:noFill/>
        </p:spPr>
        <p:txBody>
          <a:bodyPr wrap="square">
            <a:spAutoFit/>
          </a:bodyPr>
          <a:lstStyle/>
          <a:p>
            <a:pPr>
              <a:defRPr sz="1400" b="1">
                <a:solidFill>
                  <a:srgbClr val="1F4E79"/>
                </a:solidFill>
              </a:defRPr>
            </a:pPr>
            <a:r>
              <a:t>Year-level progression</a:t>
            </a:r>
          </a:p>
        </p:txBody>
      </p:sp>
      <p:sp>
        <p:nvSpPr>
          <p:cNvPr id="22" name="TextBox 21"/>
          <p:cNvSpPr txBox="1"/>
          <p:nvPr/>
        </p:nvSpPr>
        <p:spPr>
          <a:xfrm>
            <a:off x="822960" y="5367527"/>
            <a:ext cx="10515600" cy="91439"/>
          </a:xfrm>
          <a:prstGeom prst="rect">
            <a:avLst/>
          </a:prstGeom>
          <a:noFill/>
        </p:spPr>
        <p:txBody>
          <a:bodyPr wrap="square">
            <a:spAutoFit/>
          </a:bodyPr>
          <a:lstStyle/>
          <a:p>
            <a:pPr>
              <a:defRPr sz="1100" b="0">
                <a:solidFill>
                  <a:srgbClr val="232323"/>
                </a:solidFill>
              </a:defRPr>
            </a:pPr>
            <a:r>
              <a:t>Y11 can explain/justify these relationships; Y12 should analyse trade-offs; Y13 should critically evaluate limitations, competing considerations and consequences.</a:t>
            </a:r>
          </a:p>
        </p:txBody>
      </p:sp>
      <p:sp>
        <p:nvSpPr>
          <p:cNvPr id="23" name="TextBox 22"/>
          <p:cNvSpPr txBox="1"/>
          <p:nvPr/>
        </p:nvSpPr>
        <p:spPr>
          <a:xfrm>
            <a:off x="548640" y="6355080"/>
            <a:ext cx="10972800" cy="228600"/>
          </a:xfrm>
          <a:prstGeom prst="rect">
            <a:avLst/>
          </a:prstGeom>
          <a:noFill/>
        </p:spPr>
        <p:txBody>
          <a:bodyPr wrap="square">
            <a:spAutoFit/>
          </a:bodyPr>
          <a:lstStyle/>
          <a:p>
            <a:pPr algn="ctr">
              <a:defRPr sz="800" b="1">
                <a:solidFill>
                  <a:srgbClr val="9E1B0B"/>
                </a:solidFill>
              </a:defRPr>
            </a:pPr>
            <a:r>
              <a:t>This is a model of structure and quality. Students should not copy its wording.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